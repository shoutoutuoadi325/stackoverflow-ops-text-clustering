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90" r:id="rId23"/>
    <p:sldId id="278" r:id="rId24"/>
    <p:sldId id="279" r:id="rId25"/>
    <p:sldId id="280" r:id="rId26"/>
    <p:sldId id="296" r:id="rId27"/>
    <p:sldId id="297" r:id="rId28"/>
    <p:sldId id="298" r:id="rId29"/>
    <p:sldId id="281" r:id="rId30"/>
    <p:sldId id="28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255"/>
  </p:normalViewPr>
  <p:slideViewPr>
    <p:cSldViewPr snapToGrid="0" snapToObjects="1" showGuides="1">
      <p:cViewPr varScale="1">
        <p:scale>
          <a:sx n="74" d="100"/>
          <a:sy n="74" d="100"/>
        </p:scale>
        <p:origin x="2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Hadoop + Spark 大数据课程项目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424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基于 Hadoop 与 Spark 的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3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Stack Overflow Oracle 运维文本聚类去重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两阶段：BisectingKMeans 主题聚类  +  簇内 MinHashLSH 去重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188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721608"/>
            <a:ext cx="239572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152,758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Oracle 问答问题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361188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5848" y="3891153"/>
            <a:ext cx="2395728" cy="6210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K=</a:t>
            </a:r>
            <a:r>
              <a:rPr lang="en-US" sz="2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25</a:t>
            </a:r>
            <a:r>
              <a:rPr sz="2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→1</a:t>
            </a:r>
            <a:r>
              <a:rPr lang="en-US" sz="2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50</a:t>
            </a:r>
            <a:endParaRPr sz="2500" b="1" i="0">
              <a:solidFill>
                <a:srgbClr val="2D5A88"/>
              </a:solidFill>
              <a:latin typeface="Segoe UI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主题聚类粒度实验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34456" y="361188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34456" y="3721608"/>
            <a:ext cx="239572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3F7C74"/>
                </a:solidFill>
                <a:latin typeface="Segoe UI"/>
                <a:ea typeface="微软雅黑"/>
                <a:cs typeface="微软雅黑"/>
              </a:rPr>
              <a:t>ORA 错误码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领域强信号 (D2)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13064" y="361188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13064" y="3721608"/>
            <a:ext cx="239572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precision 0.81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LLM-Judge · n=32 (D1)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100584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 dirty="0" err="1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数据来源：Stack</a:t>
            </a:r>
            <a:r>
              <a:rPr sz="1250" b="0" i="0" dirty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 Overflow / Stack Exchange  ·  oracle-database </a:t>
            </a:r>
            <a:r>
              <a:rPr sz="1250" b="0" i="0" dirty="0" err="1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标签问答</a:t>
            </a:r>
            <a:endParaRPr sz="1250" b="0" i="0" dirty="0">
              <a:solidFill>
                <a:srgbClr val="5C6878"/>
              </a:solidFill>
              <a:latin typeface="Segoe UI"/>
              <a:ea typeface="微软雅黑"/>
              <a:cs typeface="微软雅黑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50" b="0" i="0" dirty="0" err="1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汇报小组成员</a:t>
            </a:r>
            <a:r>
              <a:rPr sz="1250" b="0" i="0" dirty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：</a:t>
            </a:r>
            <a:r>
              <a:rPr lang="en-CN" sz="1250" b="0" i="0" dirty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张之麒</a:t>
            </a:r>
            <a:r>
              <a:rPr lang="zh-CN" altLang="en-US" sz="1250" b="0" i="0" dirty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  顾祎炜  张万博  沈洪萱  陈虹玉  刘轩同</a:t>
            </a:r>
            <a:endParaRPr sz="1250" b="0" i="0" dirty="0">
              <a:solidFill>
                <a:srgbClr val="1E2A3D"/>
              </a:solidFill>
              <a:latin typeface="Segoe UI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02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49240" cy="713232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914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45920"/>
            <a:ext cx="41148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研究背景与数据挑战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Oracle 问答文本的复杂性与数据画像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554480"/>
            <a:ext cx="5349240" cy="713232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1554480"/>
            <a:ext cx="914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645920"/>
            <a:ext cx="41148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系统架构与两阶段方法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HDFS/YARN/Spark 分工，主题聚类 + 簇内去重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50592"/>
            <a:ext cx="5349240" cy="713232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450592"/>
            <a:ext cx="914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542032"/>
            <a:ext cx="41148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三项创新 D1–D3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诚实评测、ORA 领域特征、主题×去重视图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450592"/>
            <a:ext cx="5349240" cy="713232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2450592"/>
            <a:ext cx="914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542032"/>
            <a:ext cx="41148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实验与结果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K 值实验、重复问题组产出与真实案例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46704"/>
            <a:ext cx="5349240" cy="713232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346704"/>
            <a:ext cx="914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438144"/>
            <a:ext cx="41148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系统演示与总结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网页 + 命令行 Demo、局限与小组分工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2000" cy="36576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81455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95728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研究背景与数据挑战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1546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明确 Oracle 问答文本的复杂性与数据画像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1264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01  研究背景与数据挑战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项目与数据集介绍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04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008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选题：运维文本聚类，目标平台 Stack Overflow。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200"/>
              </a:spcAft>
            </a:pPr>
            <a:r>
              <a:rPr sz="13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对技术问答数据进行聚类与去重——把本质上相同、但表达方式不同的问题聚到一起。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4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研究对象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200"/>
              </a:spcAft>
            </a:pPr>
            <a:r>
              <a:rPr sz="13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Stack Overflow 上 oracle-database 标签下的 Oracle 数据库运维、开发与故障排查问答文本。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数据形态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200"/>
              </a:spcAft>
            </a:pPr>
            <a:r>
              <a:rPr sz="13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JSON 半结构化数据，无监督任务，无人工重复标签。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HDFS 输入路径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 i="0">
                <a:solidFill>
                  <a:srgbClr val="3F7C74"/>
                </a:solidFill>
                <a:latin typeface="Consolas"/>
                <a:ea typeface="微软雅黑"/>
                <a:cs typeface="微软雅黑"/>
              </a:rPr>
              <a:t>hdfs:///user/bigdata/stackoverflow/.../oracle_database_questions.json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08760"/>
            <a:ext cx="2029968" cy="96012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1618488"/>
            <a:ext cx="202996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152,758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原始问题数量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91472" y="1508760"/>
            <a:ext cx="2029968" cy="96012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91472" y="1618488"/>
            <a:ext cx="202996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203,393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回答数量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615184"/>
            <a:ext cx="2029968" cy="96012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2724912"/>
            <a:ext cx="202996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29,937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无人回答的问题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91472" y="2615184"/>
            <a:ext cx="2029968" cy="96012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91472" y="2724912"/>
            <a:ext cx="202996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3F7C74"/>
                </a:solidFill>
                <a:latin typeface="Segoe UI"/>
                <a:ea typeface="微软雅黑"/>
                <a:cs typeface="微软雅黑"/>
              </a:rPr>
              <a:t>589 MB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原始 JSON 体量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01  研究背景与数据挑战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数据挑战：为什么这不是普通文本聚类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05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6766560" cy="676656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81328"/>
            <a:ext cx="44000" cy="676656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64008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HTML / 代码 / 日志混杂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正文含 &lt;code&gt;、SQL、堆栈、URL，需清洗但不能误删关键线索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67712"/>
            <a:ext cx="6766560" cy="676656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44000" cy="676656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40864"/>
            <a:ext cx="64008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Oracle 专有符号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ORA-12514、tnsnames.ora、JDBC Thin、PL/SQL 等具诊断意义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54096"/>
            <a:ext cx="6766560" cy="676656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054096"/>
            <a:ext cx="44000" cy="676656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127248"/>
            <a:ext cx="64008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表达差异大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同一问题写成 limit rows / fetch first / rownum / top 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6766560" cy="676656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44000" cy="676656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913632"/>
            <a:ext cx="64008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长尾分布严重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SQL 大主题问题极多，驱动/权限/版本等细主题易被吞并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26864"/>
            <a:ext cx="6766560" cy="676656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626864"/>
            <a:ext cx="44000" cy="676656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700016"/>
            <a:ext cx="64008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缺少重复标签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没有人工标注 duplicate pairs，只能无监督聚类 + 相似度筛选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13716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核心字段及项目用途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543800" y="1783080"/>
          <a:ext cx="3931920" cy="2971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字段</a:t>
                      </a:r>
                    </a:p>
                  </a:txBody>
                  <a:tcPr marL="88900" marR="88900" marT="25400" marB="25400" anchor="ctr">
                    <a:solidFill>
                      <a:srgbClr val="E1E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项目用途</a:t>
                      </a:r>
                    </a:p>
                  </a:txBody>
                  <a:tcPr marL="88900" marR="88900" marT="25400" marB="25400" anchor="ctr">
                    <a:solidFill>
                      <a:srgbClr val="E1E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title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核心聚类文本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body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核心聚类文本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tags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补充主题 / 标签分桶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score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选择簇内代表问题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answers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增强特征（高分回答）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01  数据画像（真实 EDA）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评分与文本长度分布：长尾、低分主导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06 / 27</a:t>
            </a:r>
          </a:p>
        </p:txBody>
      </p:sp>
      <p:pic>
        <p:nvPicPr>
          <p:cNvPr id="8" name="Picture 7" descr="eda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2719"/>
            <a:ext cx="5486400" cy="3246802"/>
          </a:xfrm>
          <a:prstGeom prst="rect">
            <a:avLst/>
          </a:prstGeom>
        </p:spPr>
      </p:pic>
      <p:pic>
        <p:nvPicPr>
          <p:cNvPr id="9" name="Picture 8" descr="eda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22719"/>
            <a:ext cx="5486400" cy="32468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2578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解读：</a:t>
            </a:r>
            <a:r>
              <a:rPr sz="12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51% 的问题得分为 0、近 2 万条问题正文超 2000 字符 —— 低质量短问与长堆栈并存，决定了清洗与特征工程必须兼顾噪声过滤和关键线索保留。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01  数据画像（真实 EDA）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标签与 ORA 错误码分布：领域信号的来源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07 / 27</a:t>
            </a:r>
          </a:p>
        </p:txBody>
      </p:sp>
      <p:pic>
        <p:nvPicPr>
          <p:cNvPr id="8" name="Picture 7" descr="eda_t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508"/>
            <a:ext cx="5486400" cy="3155504"/>
          </a:xfrm>
          <a:prstGeom prst="rect">
            <a:avLst/>
          </a:prstGeom>
        </p:spPr>
      </p:pic>
      <p:pic>
        <p:nvPicPr>
          <p:cNvPr id="9" name="Picture 8" descr="eda_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11742"/>
            <a:ext cx="5486400" cy="3423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2120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解读：</a:t>
            </a:r>
            <a:r>
              <a:rPr sz="12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sql / plsql 等少数标签占据绝大多数问题；ORA 错误码高度集中，ORA-06512 出现 5,276 次 —— 这是 Oracle 问答独有的领域强信号（D2 的出发点）。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2000" cy="36576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81455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95728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系统架构与两阶段方法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1546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HDFS 存储、YARN 调度、Spark 计算；从主题聚类到簇内去重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1264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02  系统架构与两阶段方法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系统架构：三节点集群处理链路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09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7589520" cy="841248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828800" cy="841248"/>
          </a:xfrm>
          <a:prstGeom prst="roundRect">
            <a:avLst>
              <a:gd name="adj" fmla="val 6000"/>
            </a:avLst>
          </a:prstGeom>
          <a:solidFill>
            <a:srgbClr val="E1E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60000" cy="84124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08760"/>
            <a:ext cx="16916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HDFS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分布式存储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508760"/>
            <a:ext cx="53949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原始 JSON、增强 Parquet、聚类结果、去重结果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96312"/>
            <a:ext cx="7589520" cy="841248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496312"/>
            <a:ext cx="1828800" cy="841248"/>
          </a:xfrm>
          <a:prstGeom prst="roundRect">
            <a:avLst>
              <a:gd name="adj" fmla="val 6000"/>
            </a:avLst>
          </a:prstGeom>
          <a:solidFill>
            <a:srgbClr val="E1E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496312"/>
            <a:ext cx="60000" cy="84124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496312"/>
            <a:ext cx="16916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YARN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资源调度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496312"/>
            <a:ext cx="53949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调度 Driver / Executor，监控 Spark Application 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83864"/>
            <a:ext cx="7589520" cy="841248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3483864"/>
            <a:ext cx="1828800" cy="841248"/>
          </a:xfrm>
          <a:prstGeom prst="roundRect">
            <a:avLst>
              <a:gd name="adj" fmla="val 6000"/>
            </a:avLst>
          </a:prstGeom>
          <a:solidFill>
            <a:srgbClr val="E1E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483864"/>
            <a:ext cx="60000" cy="841248"/>
          </a:xfrm>
          <a:prstGeom prst="rect">
            <a:avLst/>
          </a:prstGeom>
          <a:solidFill>
            <a:srgbClr val="3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483864"/>
            <a:ext cx="16916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F7C74"/>
                </a:solidFill>
                <a:latin typeface="Segoe UI"/>
                <a:ea typeface="微软雅黑"/>
                <a:cs typeface="微软雅黑"/>
              </a:rPr>
              <a:t>Spark SQL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清洗与转换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483864"/>
            <a:ext cx="53949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读取 JSON/Parquet，字段选择、HTML 清洗、ORA 码抽取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71416"/>
            <a:ext cx="7589520" cy="841248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4471416"/>
            <a:ext cx="1828800" cy="841248"/>
          </a:xfrm>
          <a:prstGeom prst="roundRect">
            <a:avLst>
              <a:gd name="adj" fmla="val 6000"/>
            </a:avLst>
          </a:prstGeom>
          <a:solidFill>
            <a:srgbClr val="E1E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471416"/>
            <a:ext cx="60000" cy="84124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4471416"/>
            <a:ext cx="16916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Spark MLlib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向量化与建模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471416"/>
            <a:ext cx="53949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Tokenizer、TF-IDF、BisectingKMeans、MinHashLSH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1508760"/>
            <a:ext cx="3108960" cy="3977639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524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41080" y="1737360"/>
            <a:ext cx="26974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一句话分工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3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Hadoop 解决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“数据放哪、资源怎么调”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3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Spark 解决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“数据如何并行计算”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3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集群规模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3F7C74"/>
                </a:solidFill>
                <a:latin typeface="Segoe UI"/>
                <a:ea typeface="微软雅黑"/>
                <a:cs typeface="微软雅黑"/>
              </a:rPr>
              <a:t>master + worker1 + worker2 三节点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02  系统架构与两阶段方法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数据管线：先生成 Parquet，再做多轮 K 实验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10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为什么生成 Parquet：</a:t>
            </a:r>
            <a:r>
              <a:rPr sz="130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Baseline 优化中发现反复读取 JSON、清洗长文本开销过大；改为先固化成列式 Parquet 中间层，减少重复解析、提升 Spark 作业稳定性，让后续多轮 K 值实验直接复用特征。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1975104" cy="15544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651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999232"/>
            <a:ext cx="175564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原始 JSON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152,758 问题 / 589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2834640"/>
            <a:ext cx="32004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3784" y="2834640"/>
            <a:ext cx="1975104" cy="15544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651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3512" y="2999232"/>
            <a:ext cx="175564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清洗 + 抽取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去 HTML、抽 ORA 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834640"/>
            <a:ext cx="32004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2834640"/>
            <a:ext cx="1975104" cy="15544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6510">
            <a:solidFill>
              <a:srgbClr val="3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48656" y="2999232"/>
            <a:ext cx="175564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3F7C74"/>
                </a:solidFill>
                <a:latin typeface="Segoe UI"/>
                <a:ea typeface="微软雅黑"/>
                <a:cs typeface="微软雅黑"/>
              </a:rPr>
              <a:t>questions.parquet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干净文本 + ora_codes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2834640"/>
            <a:ext cx="32004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4072" y="2834640"/>
            <a:ext cx="1975104" cy="15544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651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2999232"/>
            <a:ext cx="175564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features.parquet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TF-IDF 向量复用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2834640"/>
            <a:ext cx="32004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9216" y="2834640"/>
            <a:ext cx="1975104" cy="15544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651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38944" y="2999232"/>
            <a:ext cx="175564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多轮 K 实验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K=50/100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Parquet 是列式存储：只读需要的列、压缩率高，是“探索式多轮实验”的工程前提。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02  系统架构与两阶段方法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为什么不能直接用 cluster_id 去重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11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5778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Baseline：只做主题聚类是不够的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200"/>
              </a:spcAft>
            </a:pPr>
            <a:r>
              <a:rPr sz="13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纯 KMeans 容易出现“超级大簇”——一个簇里塞进几千甚至几万条同主题问题。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500" b="1" i="0">
                <a:solidFill>
                  <a:srgbClr val="B07A1E"/>
                </a:solidFill>
                <a:latin typeface="Segoe UI"/>
                <a:ea typeface="微软雅黑"/>
                <a:cs typeface="微软雅黑"/>
              </a:rPr>
              <a:t>同簇 ≠ 重复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“都是 SQL 查询问题”和“是同一个问题”完全是两回事。聚类只能把候选范围缩小，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真正的去重必须在簇内继续做相似度筛选。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结论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Baseline 是必要起点，但不是最终去重系统 → 引出两阶段设计。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两阶段去重的核心直觉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240280"/>
            <a:ext cx="4572000" cy="960120"/>
          </a:xfrm>
          <a:prstGeom prst="roundRect">
            <a:avLst>
              <a:gd name="adj" fmla="val 6000"/>
            </a:avLst>
          </a:prstGeom>
          <a:solidFill>
            <a:srgbClr val="E1E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0" y="2240280"/>
            <a:ext cx="55000" cy="960120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233172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阶段 1 · 粗聚类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BisectingKMeans 把 152K 问题切成 K 个主题，搜索空间 O(N²) → Σ O(nᵢ²)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337560"/>
            <a:ext cx="4572000" cy="960120"/>
          </a:xfrm>
          <a:prstGeom prst="roundRect">
            <a:avLst>
              <a:gd name="adj" fmla="val 6000"/>
            </a:avLst>
          </a:prstGeom>
          <a:solidFill>
            <a:srgbClr val="E1E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3337560"/>
            <a:ext cx="55000" cy="960120"/>
          </a:xfrm>
          <a:prstGeom prst="rect">
            <a:avLst/>
          </a:prstGeom>
          <a:solidFill>
            <a:srgbClr val="3F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42900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3F7C74"/>
                </a:solidFill>
                <a:latin typeface="Segoe UI"/>
                <a:ea typeface="微软雅黑"/>
                <a:cs typeface="微软雅黑"/>
              </a:rPr>
              <a:t>阶段 2 · 簇内精筛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每个主题内部独立跑 MinHashLSH，阈值可放宽到 0.65 而不爆炸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434840"/>
            <a:ext cx="4572000" cy="960120"/>
          </a:xfrm>
          <a:prstGeom prst="roundRect">
            <a:avLst>
              <a:gd name="adj" fmla="val 6000"/>
            </a:avLst>
          </a:prstGeom>
          <a:solidFill>
            <a:srgbClr val="E1E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75120" y="4434840"/>
            <a:ext cx="55000" cy="960120"/>
          </a:xfrm>
          <a:prstGeom prst="rect">
            <a:avLst/>
          </a:prstGeom>
          <a:solidFill>
            <a:srgbClr val="B0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452628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B07A1E"/>
                </a:solidFill>
                <a:latin typeface="Segoe UI"/>
                <a:ea typeface="微软雅黑"/>
                <a:cs typeface="微软雅黑"/>
              </a:rPr>
              <a:t>产出 · 重复组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簇内相似边 → 连通分量 → 可展示、可核查的重复问题组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02  系统架构与两阶段方法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完整流水线：从原始 JSON 到重复问题组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12 / 27</a:t>
            </a:r>
          </a:p>
        </p:txBody>
      </p:sp>
      <p:pic>
        <p:nvPicPr>
          <p:cNvPr id="8" name="Picture 7" descr="pipeline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861" y="1371600"/>
            <a:ext cx="7327798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321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七道工序：</a:t>
            </a:r>
            <a:r>
              <a:rPr sz="120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①原始 JSON → ②上传清洗 → ③questions.parquet → ④TF-IDF 特征 → ⑤BisectingKMeans 主题聚类 → ⑥簇内 MinHashLSH（+ORA boost）→ ⑦连通分量得到重复组。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2000" cy="36576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3045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95728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三项创新 D1–D3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1546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在标准两阶段范式之上叠加的差异化设计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1264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03  三项创新 D1–D3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在标准两阶段之上，我们多做的三件事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两阶段（主题聚类 + 簇内 LSH）是这类去重的标准范式；</a:t>
            </a:r>
            <a:r>
              <a:rPr sz="130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我们的差异化在于把课程项目做出“工业界态度”——</a:t>
            </a: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三项创新都来自真实踩坑，而非论文关键词。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651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1005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58568"/>
            <a:ext cx="4023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三层诚实评测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原始核验 → 参数扫描 → 人工审核；无标签就显式声明 pending，不伪造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651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240280"/>
            <a:ext cx="1005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D2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258568"/>
            <a:ext cx="4023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ORA 错误码强信号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正则抽 ORA-XXXXX 成结构化特征，相似度 +0.10 领域 boost 与“救回”机制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2800" y="393192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651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81400" y="4114800"/>
            <a:ext cx="1005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D3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240" y="4133088"/>
            <a:ext cx="4023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主题 × 去重双层视图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把主题分布与去重结果 join，回答“哪类问题重复率最高、能压缩多少”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03  创新点 D2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ORA 错误码：把领域知识注入相似度计算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57784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洞察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两个问题都提到 ORA-04031，几乎一定是同一类运维问题；但通用 TF-IDF 只按词频给权重，看不到这种领域先验。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做法（三步）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2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  预处理用正则 \bORA-\d{4,5}\b 抽出 ora_codes 数组列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200"/>
              </a:spcAft>
            </a:pPr>
            <a:r>
              <a:rPr sz="12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2  簇内出对后：若两问共享 ORA 码，similarity += 0.10（封顶 1.0）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200"/>
              </a:spcAft>
            </a:pPr>
            <a:r>
              <a:rPr sz="12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3  救回机制：raw 相似度 0.55–0.65 但共享 ORA 码的对被拉回，标记 ora_rescued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诚实边界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+0.10 是经验系数、非学习所得；不同 ORA 码语义距离不同，当前一视同仁——已写入 PPT。</a:t>
            </a:r>
          </a:p>
        </p:txBody>
      </p:sp>
      <p:pic>
        <p:nvPicPr>
          <p:cNvPr id="9" name="Picture 8" descr="eda_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898" y="1371600"/>
            <a:ext cx="4689884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438912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524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452628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F7C74"/>
                </a:solidFill>
                <a:latin typeface="Consolas"/>
                <a:ea typeface="微软雅黑"/>
                <a:cs typeface="微软雅黑"/>
              </a:rPr>
              <a:t>if  src.ora_codes ∩ dst.ora_codes ≠ ∅ :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50" b="0" i="0">
                <a:solidFill>
                  <a:srgbClr val="3F7C74"/>
                </a:solidFill>
                <a:latin typeface="Consolas"/>
                <a:ea typeface="微软雅黑"/>
                <a:cs typeface="微软雅黑"/>
              </a:rPr>
              <a:t>     similarity = min(1.0, sim + 0.10)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ORA 覆盖广、且高度集中（见上图），是高质量的去重先验。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03  创新点 D1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三层诚实评测：拒绝伪造指标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16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583680" cy="8686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60000" cy="868680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L1 原始数据核验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validate_raw_data.py → SHA256、问题/回答数完全可复现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463040"/>
            <a:ext cx="12344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不依赖人工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59736"/>
            <a:ext cx="6583680" cy="8686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459736"/>
            <a:ext cx="60000" cy="868680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551176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L2 参数扫描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多组 LSH 参数真实运行，记录候选数 / 簇数 / 相似度 / 耗时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459736"/>
            <a:ext cx="12344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不依赖人工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56432"/>
            <a:ext cx="6583680" cy="8686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456432"/>
            <a:ext cx="60000" cy="868680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547872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L3 人工审核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review_candidates.csv 人工标注 → 真实 precision；未标注显式 pending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456432"/>
            <a:ext cx="12344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依赖人工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463040"/>
            <a:ext cx="4114800" cy="416052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905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FillBox"/>
          <p:cNvSpPr txBox="1"/>
          <p:nvPr/>
        </p:nvSpPr>
        <p:spPr>
          <a:xfrm>
            <a:off x="7506640" y="1640000"/>
            <a:ext cx="3900000" cy="3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双重评测 · v2 主结果</a:t>
            </a:r>
          </a:p>
          <a:p>
            <a:pPr algn="l">
              <a:lnSpc>
                <a:spcPct val="132000"/>
              </a:lnSpc>
              <a:spcBef>
                <a:spcPts val="500"/>
              </a:spcBef>
              <a:spcAft>
                <a:spcPts val="200"/>
              </a:spcAft>
            </a:pPr>
            <a:r>
              <a:rPr lang="en-US"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LLM-as-Judge（sim ≥ 0.65，n = 32）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6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precision = 0.8125</a:t>
            </a:r>
          </a:p>
          <a:p>
            <a:pPr algn="l">
              <a:lnSpc>
                <a:spcPct val="132000"/>
              </a:lnSpc>
              <a:spcBef>
                <a:spcPts val="150"/>
              </a:spcBef>
              <a:spcAft>
                <a:spcPts val="200"/>
              </a:spcAft>
            </a:pPr>
            <a:r>
              <a:rPr lang="en-US" sz="130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95% CI [0.65, 0.91]</a:t>
            </a:r>
          </a:p>
          <a:p>
            <a:pPr algn="l">
              <a:lnSpc>
                <a:spcPct val="132000"/>
              </a:lnSpc>
              <a:spcBef>
                <a:spcPts val="520"/>
              </a:spcBef>
              <a:spcAft>
                <a:spcPts val="200"/>
              </a:spcAft>
            </a:pPr>
            <a:r>
              <a:rPr lang="en-US"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人工标注交叉验证（52 条）：0.731，CI [0.60, 0.83]</a:t>
            </a:r>
          </a:p>
          <a:p>
            <a:pPr algn="l">
              <a:lnSpc>
                <a:spcPct val="132000"/>
              </a:lnSpc>
              <a:spcBef>
                <a:spcPts val="380"/>
              </a:spcBef>
              <a:spcAft>
                <a:spcPts val="200"/>
              </a:spcAft>
            </a:pPr>
            <a:r>
              <a:rPr lang="en-US" sz="10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两种独立评测一致指向 0.73–0.81；不计 F1（152K 无 recall 分母）。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03  创新点 D3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主题 × 去重双层视图：从算法结果到业务洞察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17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单独看任一条链路都不完整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200"/>
              </a:spcAft>
            </a:pPr>
            <a:r>
              <a:rPr sz="12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· 只看主题聚类：能讲“分成 K 个主题”，答不了“重复有多少”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200"/>
              </a:spcAft>
            </a:pPr>
            <a:r>
              <a:rPr sz="12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· 只看 LSH 去重：能讲“找到 X 组重复”，答不了“重复集中在哪类”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我们的做法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200"/>
              </a:spcAft>
            </a:pPr>
            <a:r>
              <a:rPr sz="12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对每个 topic_id 计算：主题大小、簇内重复组数、被合并问题数、去重率 dedup_ratio、主题关键词、代表性重复对。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业务价值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200"/>
              </a:spcAft>
            </a:pPr>
            <a:r>
              <a:rPr sz="12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直接告诉运维团队：哪类 Oracle 问题重复率最高、去重后知识库能压缩多少——operationalization 的最后一公里。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120640" cy="416052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905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FillBox"/>
          <p:cNvSpPr txBox="1"/>
          <p:nvPr/>
        </p:nvSpPr>
        <p:spPr>
          <a:xfrm>
            <a:off x="6620000" y="1640000"/>
            <a:ext cx="4760000" cy="3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5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去重集中在哪类问题（实测）</a:t>
            </a:r>
          </a:p>
          <a:p>
            <a:pPr algn="l">
              <a:lnSpc>
                <a:spcPct val="132000"/>
              </a:lnSpc>
              <a:spcBef>
                <a:spcPts val="500"/>
              </a:spcBef>
              <a:spcAft>
                <a:spcPts val="200"/>
              </a:spcAft>
            </a:pPr>
            <a:r>
              <a:rPr lang="en-US" sz="120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· 重复组高度集中在 SQL 语法错误与 ORA 报错类主题</a:t>
            </a:r>
          </a:p>
          <a:p>
            <a:pPr algn="l">
              <a:lnSpc>
                <a:spcPct val="132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20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· 最大重复组（4 题）：ORA-00907 “missing right parenthesis” 的多种表述被合并</a:t>
            </a:r>
          </a:p>
          <a:p>
            <a:pPr algn="l">
              <a:lnSpc>
                <a:spcPct val="132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20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· group by 报错（ORA-00979）：“not a group by” 的不同写法聚为一组</a:t>
            </a:r>
          </a:p>
          <a:p>
            <a:pPr algn="l">
              <a:lnSpc>
                <a:spcPct val="132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20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· 业务含义：知识库去重应优先合并 SQL 报错类问答，压缩收益最高</a:t>
            </a:r>
          </a:p>
          <a:p>
            <a:pPr algn="l">
              <a:lnSpc>
                <a:spcPct val="132000"/>
              </a:lnSpc>
              <a:spcBef>
                <a:spcPts val="600"/>
              </a:spcBef>
              <a:spcAft>
                <a:spcPts val="200"/>
              </a:spcAft>
            </a:pPr>
            <a:r>
              <a:rPr lang="en-US" sz="10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每个 topic_id 的 dedup_ratio 双层视图由 build_topic_dedup_view.py（topic × clusters join）生成。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03  三项创新 D1–D3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我们 vs 对照组：相同的范式，差异化的深度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18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F7C74"/>
                </a:solidFill>
                <a:latin typeface="Segoe UI"/>
                <a:ea typeface="微软雅黑"/>
                <a:cs typeface="微软雅黑"/>
              </a:rPr>
              <a:t>✅ 相同的标准方法论：</a:t>
            </a:r>
            <a:r>
              <a:rPr sz="12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两阶段（BisectingKMeans 主题聚类 + 簇内 MinHashLSH）、簇内相似边→重复组——这是该问题的公认范式。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586206"/>
              </p:ext>
            </p:extLst>
          </p:nvPr>
        </p:nvGraphicFramePr>
        <p:xfrm>
          <a:off x="548640" y="1874519"/>
          <a:ext cx="11064239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0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88900" marR="88900" marT="25400" marB="25400" anchor="ctr">
                    <a:solidFill>
                      <a:srgbClr val="E1E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对照组</a:t>
                      </a:r>
                      <a:endParaRPr sz="1300" b="1" i="0" dirty="0">
                        <a:solidFill>
                          <a:srgbClr val="2D5A88"/>
                        </a:solidFill>
                        <a:latin typeface="Segoe UI"/>
                        <a:ea typeface="微软雅黑"/>
                        <a:cs typeface="微软雅黑"/>
                      </a:endParaRPr>
                    </a:p>
                  </a:txBody>
                  <a:tcPr marL="88900" marR="88900" marT="25400" marB="25400" anchor="ctr">
                    <a:solidFill>
                      <a:srgbClr val="E1E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我们</a:t>
                      </a:r>
                      <a:r>
                        <a:rPr sz="1300" b="1" i="0" dirty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v2（差异化）</a:t>
                      </a:r>
                    </a:p>
                  </a:txBody>
                  <a:tcPr marL="88900" marR="88900" marT="25400" marB="25400" anchor="ctr">
                    <a:solidFill>
                      <a:srgbClr val="E1E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特征工程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标准 TF-IDF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TF-IDF + ORA 错误码领域特征（D2）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ORA 利用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EDA 提及，未进入算法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结构化特征 + 相似度 +0.10 boost + 救回机制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评测方式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直接给出 precision/recall/F1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LLM-Judge 32 条 precision=0.81（CI[0.65,0.91]）；人工 52 条 0.73 交叉验证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分档评测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按相似度档分层报告 precision 与置信区间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业务视图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单一重复组列表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主题 × 去重交叉视图（D3），各主题去重压缩比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Demo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静态截图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静态网页</a:t>
                      </a:r>
                      <a:r>
                        <a:rPr sz="1200" b="0" i="0" dirty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+ </a:t>
                      </a:r>
                      <a:r>
                        <a:rPr sz="1200" b="0" i="0" dirty="0" err="1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命令行</a:t>
                      </a:r>
                      <a:r>
                        <a:rPr sz="1200" b="0" i="0" dirty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demo，可交互查询</a:t>
                      </a:r>
                      <a:endParaRPr sz="1200" b="0" i="0" dirty="0">
                        <a:solidFill>
                          <a:srgbClr val="1E2A3D"/>
                        </a:solidFill>
                        <a:latin typeface="Segoe UI"/>
                        <a:ea typeface="微软雅黑"/>
                        <a:cs typeface="微软雅黑"/>
                      </a:endParaRP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2000" cy="36576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81455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95728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实验与结果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1546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K 值实验、簇内去重组数与高置信案例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1264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04  实验与结果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K 值扫描 25 / 50 / 100 / 125 / 150：最终选定 K=50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20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用数据说明最终 K 不是经验拍脑袋，而是在“控制最大簇”与“避免碎片化”之间的平衡。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064240" cy="35661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905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0" name="ResultTable"/>
          <p:cNvGraphicFramePr>
            <a:graphicFrameLocks noGrp="1"/>
          </p:cNvGraphicFramePr>
          <p:nvPr/>
        </p:nvGraphicFramePr>
        <p:xfrm>
          <a:off x="848640" y="2300000"/>
          <a:ext cx="10464240" cy="2929290"/>
        </p:xfrm>
        <a:graphic>
          <a:graphicData uri="http://schemas.openxmlformats.org/drawingml/2006/table">
            <a:tbl>
              <a:tblPr firstRow="1" bandRow="1"/>
              <a:tblGrid>
                <a:gridCol w="278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K=25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K=50 ★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K=100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K=125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K=150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silhouette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−0.010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i="0">
                          <a:solidFill>
                            <a:srgbClr val="FF0000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−0.006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chemeClr val="tx2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−0.017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−0.022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−0.031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最大簇规模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41,312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35,914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27,552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22,147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     </a:t>
                      </a:r>
                      <a:r>
                        <a:rPr lang="en-US" sz="12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21,316</a:t>
                      </a:r>
                      <a:endParaRPr lang="en-US" altLang="en-US" sz="1200">
                        <a:solidFill>
                          <a:srgbClr val="1E2A3D"/>
                        </a:solidFill>
                        <a:latin typeface="Segoe UI"/>
                        <a:ea typeface="微软雅黑"/>
                        <a:cs typeface="微软雅黑"/>
                        <a:sym typeface="+mn-ea"/>
                      </a:endParaRP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最大簇占比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27.0%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23.5%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18.0%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      </a:t>
                      </a:r>
                      <a:r>
                        <a:rPr lang="en-US" sz="12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14.5%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13.9%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中位簇大小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1,452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1,175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591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</a:t>
                      </a:r>
                      <a:r>
                        <a:rPr lang="en-US" sz="1400"/>
                        <a:t>352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</a:t>
                      </a:r>
                      <a:r>
                        <a:rPr lang="en-US" sz="1400"/>
                        <a:t> 297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最小簇大小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</a:t>
                      </a:r>
                      <a:r>
                        <a:rPr lang="en-US" sz="1400"/>
                        <a:t>  374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61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</a:t>
                      </a:r>
                      <a:r>
                        <a:rPr lang="en-US" sz="1400"/>
                        <a:t>     37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</a:t>
                      </a:r>
                      <a:r>
                        <a:rPr lang="en-US" sz="1400"/>
                        <a:t>  32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重复问题组数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</a:t>
                      </a:r>
                      <a:r>
                        <a:rPr lang="en-US" sz="1400"/>
                        <a:t> 38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i="0">
                          <a:solidFill>
                            <a:srgbClr val="FF0000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39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37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</a:t>
                      </a:r>
                      <a:r>
                        <a:rPr lang="en-US" sz="1400"/>
                        <a:t> 38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</a:t>
                      </a:r>
                      <a:r>
                        <a:rPr lang="en-US" sz="1400"/>
                        <a:t>35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00">
                <a:tc gridSpan="6">
                  <a:txBody>
                    <a:bodyPr/>
                    <a:lstStyle/>
                    <a:p>
                      <a:pPr algn="l"/>
                      <a:r>
                        <a:rPr lang="en-US" sz="10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最终选 K=50：silhouette 略好、簇大不丢跨簇真重复、重复组最多；K=25/125/150 待补充实测结果。</a:t>
                      </a:r>
                    </a:p>
                  </a:txBody>
                  <a:tcPr marL="54000" marR="54000" marT="20320" marB="20320" anchor="ctr">
                    <a:solidFill>
                      <a:srgbClr val="EEF2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04  实验与结果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簇内 MinHashLSH 去重：最终重复问题组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21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最终产物不是 cluster_id，而是可展示、可核查的“重复问题组”（连通分量）。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064240" cy="35661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905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0" name="Resul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115348"/>
              </p:ext>
            </p:extLst>
          </p:nvPr>
        </p:nvGraphicFramePr>
        <p:xfrm>
          <a:off x="848640" y="2300000"/>
          <a:ext cx="10464240" cy="2939810"/>
        </p:xfrm>
        <a:graphic>
          <a:graphicData uri="http://schemas.openxmlformats.org/drawingml/2006/table">
            <a:tbl>
              <a:tblPr firstRow="1" bandRow="1"/>
              <a:tblGrid>
                <a:gridCol w="278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5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K=25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K=50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K=100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K=125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K=150</a:t>
                      </a:r>
                    </a:p>
                  </a:txBody>
                  <a:tcPr marL="54000" marR="54000" marT="20320" marB="20320" anchor="ctr">
                    <a:solidFill>
                      <a:srgbClr val="2D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相似问题对数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45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43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41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</a:t>
                      </a:r>
                      <a:r>
                        <a:rPr lang="en-US" sz="12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40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</a:t>
                      </a:r>
                      <a:r>
                        <a:rPr lang="en-US" sz="1200"/>
                        <a:t> 40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重复问题组数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</a:t>
                      </a:r>
                      <a:r>
                        <a:rPr lang="en-US" sz="1200" dirty="0"/>
                        <a:t> 38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39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37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</a:t>
                      </a:r>
                      <a:r>
                        <a:rPr lang="en-US" sz="1200"/>
                        <a:t> 38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</a:t>
                      </a:r>
                      <a:r>
                        <a:rPr lang="en-US" sz="1200"/>
                        <a:t>  35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涉及问题数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 </a:t>
                      </a:r>
                      <a:r>
                        <a:rPr lang="en-US" sz="1200"/>
                        <a:t>80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81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77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</a:t>
                      </a:r>
                      <a:r>
                        <a:rPr lang="en-US" sz="1200"/>
                        <a:t>78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</a:t>
                      </a:r>
                      <a:r>
                        <a:rPr lang="en-US" sz="1200"/>
                        <a:t>74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最大组规模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</a:t>
                      </a:r>
                      <a:r>
                        <a:rPr lang="en-US" sz="1200"/>
                        <a:t>  4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</a:t>
                      </a:r>
                      <a:r>
                        <a:rPr lang="en-US" sz="1200"/>
                        <a:t>  4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 </a:t>
                      </a:r>
                      <a:r>
                        <a:rPr lang="en-US" sz="1200"/>
                        <a:t>4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平均相似度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</a:t>
                      </a:r>
                      <a:r>
                        <a:rPr lang="en-US" sz="1200"/>
                        <a:t> 0.712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0.726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0.728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</a:t>
                      </a:r>
                      <a:r>
                        <a:rPr lang="en-US" sz="1200"/>
                        <a:t>     0.728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</a:t>
                      </a:r>
                      <a:r>
                        <a:rPr lang="en-US" sz="1200"/>
                        <a:t> 0.727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簇内相似度阈值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 </a:t>
                      </a:r>
                      <a:r>
                        <a:rPr lang="en-US" sz="1200"/>
                        <a:t> </a:t>
                      </a:r>
                      <a:r>
                        <a:rPr lang="en-US" sz="12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≥0.65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 dirty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≥0.65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≥0.65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≥0.65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  <a:sym typeface="+mn-ea"/>
                        </a:rPr>
                        <a:t>≥0.65</a:t>
                      </a:r>
                    </a:p>
                  </a:txBody>
                  <a:tcPr marL="54000" marR="5400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00">
                <a:tc gridSpan="6">
                  <a:txBody>
                    <a:bodyPr/>
                    <a:lstStyle/>
                    <a:p>
                      <a:pPr algn="l"/>
                      <a:r>
                        <a:rPr lang="en-US" sz="1050" b="0" i="0" dirty="0" err="1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对照</a:t>
                      </a:r>
                      <a:r>
                        <a:rPr lang="en-US" sz="1050" b="0" i="0" dirty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v1 </a:t>
                      </a:r>
                      <a:r>
                        <a:rPr lang="en-US" sz="1050" b="0" i="0" dirty="0" err="1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全局</a:t>
                      </a:r>
                      <a:r>
                        <a:rPr lang="en-US" sz="1050" b="0" i="0" dirty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LSH：sim≥0.85 </a:t>
                      </a:r>
                      <a:r>
                        <a:rPr lang="en-US" sz="1050" b="0" i="0" dirty="0" err="1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仅</a:t>
                      </a:r>
                      <a:r>
                        <a:rPr lang="en-US" sz="1050" b="0" i="0" dirty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2 对；v2 </a:t>
                      </a:r>
                      <a:r>
                        <a:rPr lang="en-US" sz="1050" b="0" i="0" dirty="0" err="1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簇内放宽到</a:t>
                      </a:r>
                      <a:r>
                        <a:rPr lang="en-US" sz="1050" b="0" i="0" dirty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0.65。最终取 K=50：39 </a:t>
                      </a:r>
                      <a:r>
                        <a:rPr lang="en-US" sz="1050" b="0" i="0" dirty="0" err="1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组重复，簇大、不丢跨簇真重复</a:t>
                      </a:r>
                      <a:r>
                        <a:rPr lang="en-US" sz="1050" b="0" i="0" dirty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。</a:t>
                      </a:r>
                    </a:p>
                  </a:txBody>
                  <a:tcPr marL="54000" marR="54000" marT="20320" marB="20320" anchor="ctr">
                    <a:solidFill>
                      <a:srgbClr val="EEF2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04  实验与结果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实战踩坑：Spark Lineage 截断（K=100 触发，4.5h → 5min）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22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K=100 跑流水线撞到的真实 Spark 性能陷阱：同样输入、同样输出（41 条边 → 37 组），调度方式相差约 10000 倍。</a:t>
            </a:r>
          </a:p>
        </p:txBody>
      </p:sp>
      <p:sp>
        <p:nvSpPr>
          <p:cNvPr id="81" name="FillBox"/>
          <p:cNvSpPr txBox="1"/>
          <p:nvPr/>
        </p:nvSpPr>
        <p:spPr>
          <a:xfrm>
            <a:off x="548640" y="2010000"/>
            <a:ext cx="6250000" cy="35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【现象】</a:t>
            </a:r>
            <a:r>
              <a:rPr lang="en-US" sz="11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K=100 LSH 跑完、similar_pairs 已写盘（41 行），但连通分量卡住：15 轮 × 18 分钟 ≈ 4.5 小时；K=50 同段代码 35 分钟跑完。</a:t>
            </a:r>
          </a:p>
          <a:p>
            <a:pPr algn="l">
              <a:lnSpc>
                <a:spcPct val="132000"/>
              </a:lnSpc>
              <a:spcBef>
                <a:spcPts val="560"/>
              </a:spcBef>
              <a:spcAft>
                <a:spcPts val="200"/>
              </a:spcAft>
            </a:pPr>
            <a:r>
              <a:rPr lang="en-US" sz="11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【根因】</a:t>
            </a:r>
            <a:r>
              <a:rPr lang="en-US" sz="11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Spark 惰性求值：edges 是 100 个簇 LSH 结果 union 出的「计算计划」而非数据。每轮迭代触发 action 就从头重跑 100 个 topic 的 MinHashLSH（152K 文档过一遍），15 轮 = 重算 15 次。</a:t>
            </a:r>
          </a:p>
          <a:p>
            <a:pPr algn="l">
              <a:lnSpc>
                <a:spcPct val="132000"/>
              </a:lnSpc>
              <a:spcBef>
                <a:spcPts val="560"/>
              </a:spcBef>
              <a:spcAft>
                <a:spcPts val="200"/>
              </a:spcAft>
            </a:pPr>
            <a:r>
              <a:rPr lang="en-US" sz="11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【修复】</a:t>
            </a:r>
            <a:r>
              <a:rPr lang="en-US" sz="11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写盘后从 parquet 重读、截断 lineage：edges = spark.read.parquet(...)。新计划只是「读 41 行文件」，无上游依赖。</a:t>
            </a:r>
          </a:p>
          <a:p>
            <a:pPr algn="l">
              <a:lnSpc>
                <a:spcPct val="132000"/>
              </a:lnSpc>
              <a:spcBef>
                <a:spcPts val="560"/>
              </a:spcBef>
              <a:spcAft>
                <a:spcPts val="200"/>
              </a:spcAft>
            </a:pPr>
            <a:r>
              <a:rPr lang="en-US" sz="11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【本质】</a:t>
            </a:r>
            <a:r>
              <a:rPr lang="en-US" sz="11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两版输出完全一致，差异只在调度——慢版每轮重算边的来源，快版直接读硬盘已算好的边。</a:t>
            </a:r>
          </a:p>
        </p:txBody>
      </p:sp>
      <p:graphicFrame>
        <p:nvGraphicFramePr>
          <p:cNvPr id="82" name="ResultTable"/>
          <p:cNvGraphicFramePr>
            <a:graphicFrameLocks noGrp="1"/>
          </p:cNvGraphicFramePr>
          <p:nvPr/>
        </p:nvGraphicFramePr>
        <p:xfrm>
          <a:off x="7050000" y="2010000"/>
          <a:ext cx="4560000" cy="1700000"/>
        </p:xfrm>
        <a:graphic>
          <a:graphicData uri="http://schemas.openxmlformats.org/drawingml/2006/table">
            <a:tbl>
              <a:tblPr firstRow="1" bandRow="1"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版本</a:t>
                      </a:r>
                    </a:p>
                  </a:txBody>
                  <a:tcPr marL="68580" marR="6858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连通分量</a:t>
                      </a:r>
                    </a:p>
                  </a:txBody>
                  <a:tcPr marL="68580" marR="6858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task 速度</a:t>
                      </a:r>
                    </a:p>
                  </a:txBody>
                  <a:tcPr marL="68580" marR="68580" marT="20320" marB="20320" anchor="ctr">
                    <a:solidFill>
                      <a:srgbClr val="2D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原版 · 内存 union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B23A4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4.5 小时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1–8 秒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修复 · 重读 parquet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5 分钟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30 毫秒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00">
                <a:tc gridSpan="3">
                  <a:txBody>
                    <a:bodyPr/>
                    <a:lstStyle/>
                    <a:p>
                      <a:pPr algn="l"/>
                      <a:r>
                        <a:rPr lang="en-US" sz="105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~ 10000× 加速，输出完全一致（41 条边 → 37 组）</a:t>
                      </a:r>
                    </a:p>
                  </a:txBody>
                  <a:tcPr marL="68580" marR="68580" marT="20320" marB="20320" anchor="ctr">
                    <a:solidFill>
                      <a:srgbClr val="EEF2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3" name="CodeBox"/>
          <p:cNvSpPr/>
          <p:nvPr/>
        </p:nvSpPr>
        <p:spPr>
          <a:xfrm>
            <a:off x="7050000" y="4060000"/>
            <a:ext cx="4560000" cy="118000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00" b="0" i="0">
                <a:solidFill>
                  <a:srgbClr val="E6EDF6"/>
                </a:solidFill>
                <a:latin typeface="Consolas"/>
                <a:ea typeface="Consolas"/>
                <a:cs typeface="Consolas"/>
              </a:rPr>
              <a:t>edges.write.parquet(pairs_out)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b="0" i="0">
                <a:solidFill>
                  <a:srgbClr val="E6EDF6"/>
                </a:solidFill>
                <a:latin typeface="Consolas"/>
                <a:ea typeface="Consolas"/>
                <a:cs typeface="Consolas"/>
              </a:rPr>
              <a:t>edges = spark.read.parquet(pairs_out)</a:t>
            </a:r>
            <a:r>
              <a:rPr lang="en-US" sz="1000" b="0" i="0">
                <a:solidFill>
                  <a:srgbClr val="7BD88F"/>
                </a:solidFill>
                <a:latin typeface="Consolas"/>
                <a:ea typeface="Consolas"/>
                <a:cs typeface="Consolas"/>
              </a:rPr>
              <a:t>  # 断 lineage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000" b="0" i="0">
                <a:solidFill>
                  <a:srgbClr val="E6EDF6"/>
                </a:solidFill>
                <a:latin typeface="Consolas"/>
                <a:ea typeface="Consolas"/>
                <a:cs typeface="Consolas"/>
              </a:rPr>
              <a:t>build_connected_components(spark, edges)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04  实验与结果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真实重复案例：表达不同，技术意图一致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23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我们不把同簇问题直接判为重复，而是在簇内用 MinHashLSH 算相似度，再人工核查代表性案例。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064240" cy="35661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905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0" name="ResultTable"/>
          <p:cNvGraphicFramePr>
            <a:graphicFrameLocks noGrp="1"/>
          </p:cNvGraphicFramePr>
          <p:nvPr/>
        </p:nvGraphicFramePr>
        <p:xfrm>
          <a:off x="848640" y="2300000"/>
          <a:ext cx="10464240" cy="2840000"/>
        </p:xfrm>
        <a:graphic>
          <a:graphicData uri="http://schemas.openxmlformats.org/drawingml/2006/table">
            <a:tbl>
              <a:tblPr firstRow="1" bandRow="1"/>
              <a:tblGrid>
                <a:gridCol w="126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相似度</a:t>
                      </a:r>
                    </a:p>
                  </a:txBody>
                  <a:tcPr marL="68580" marR="6858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问题 A</a:t>
                      </a:r>
                    </a:p>
                  </a:txBody>
                  <a:tcPr marL="68580" marR="6858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问题 B</a:t>
                      </a:r>
                    </a:p>
                  </a:txBody>
                  <a:tcPr marL="68580" marR="68580" marT="20320" marB="20320" anchor="ctr">
                    <a:solidFill>
                      <a:srgbClr val="2D5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68580" marR="68580" marT="20320" marB="20320" anchor="ctr">
                    <a:solidFill>
                      <a:srgbClr val="2D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0.867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join with lookup and groupby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join with lookup and group by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仅 groupby / group by 写法差异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0.864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How to compare two different rows of two different tables?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... and update a third table?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同一比较需求，后者多一步更新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0.850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Correlation and analytic function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Correlation function over analytic function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词序不同，语义一致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0.76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Error is missing right parenthesis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ORA-00907: missing right parenthesis error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同一报错多种表述（4 题大组）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0.75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NOT a group by expression SQL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not a group by oracle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同一 group by 报错 ORA-00979</a:t>
                      </a:r>
                    </a:p>
                  </a:txBody>
                  <a:tcPr marL="68580" marR="68580" marT="20320" marB="20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2000" cy="36576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9225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95728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系统演示与总结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1546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网页 + 命令行 Demo、局限与小组分工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1264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05  系统演示与总结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系统 / 结果演示：网页 + 命令行双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25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5240">
            <a:solidFill>
              <a:srgbClr val="2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图片 12" descr="Screenshot 2026-06-02 11032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2920" y="1370330"/>
            <a:ext cx="6727825" cy="4277995"/>
          </a:xfrm>
          <a:prstGeom prst="rect">
            <a:avLst/>
          </a:prstGeom>
        </p:spPr>
      </p:pic>
      <p:pic>
        <p:nvPicPr>
          <p:cNvPr id="28" name="图片 27" descr="Screenshot 2026-06-02 11190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230745" y="1358265"/>
            <a:ext cx="4578350" cy="42786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182441781672626_.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182451781672639_.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6428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182461781672653_.pic_h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05  系统演示与总结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总结：完整的分布式聚类到去重链路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26 /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675120" cy="749808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60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6217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完成　</a:t>
            </a:r>
            <a:r>
              <a:rPr sz="12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三节点 Hadoop/Spark 集群处理 152,758 条 Oracle 问答，全链路打通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22576"/>
            <a:ext cx="6675120" cy="749808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60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322576"/>
            <a:ext cx="6217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方法　</a:t>
            </a:r>
            <a:r>
              <a:rPr sz="12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两阶段去重：BisectingKMeans 主题聚类 + 簇内 MinHashLSH + 连通分量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82112"/>
            <a:ext cx="6675120" cy="749808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182112"/>
            <a:ext cx="60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182112"/>
            <a:ext cx="6217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创新　</a:t>
            </a:r>
            <a:r>
              <a:rPr sz="1250" b="0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D1 诚实评测 · D2 ORA 领域特征 · D3 主题×去重视图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41648"/>
            <a:ext cx="6675120" cy="749808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4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041648"/>
            <a:ext cx="60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41648"/>
            <a:ext cx="6217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dirty="0" err="1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产出</a:t>
            </a:r>
            <a:r>
              <a:rPr sz="1250" b="1" i="0" dirty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　</a:t>
            </a:r>
            <a:r>
              <a:rPr sz="1250" b="0" i="0" dirty="0" err="1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重复问题组</a:t>
            </a:r>
            <a:r>
              <a:rPr sz="1250" b="0" i="0" dirty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 39 </a:t>
            </a:r>
            <a:r>
              <a:rPr sz="1250" b="0" i="0" dirty="0" err="1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组（K</a:t>
            </a:r>
            <a:r>
              <a:rPr sz="1250" b="0" i="0" dirty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=50） + precision 0.81（LLM-Judge CI[0.65,0.91]） + </a:t>
            </a:r>
            <a:r>
              <a:rPr sz="1250" b="0" i="0" dirty="0" err="1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网页</a:t>
            </a:r>
            <a:r>
              <a:rPr sz="1250" b="0" i="0" dirty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/</a:t>
            </a:r>
            <a:r>
              <a:rPr sz="1250" b="0" i="0" dirty="0" err="1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命令行</a:t>
            </a:r>
            <a:r>
              <a:rPr sz="1250" b="0" i="0" dirty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463040"/>
            <a:ext cx="4023360" cy="35661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3970">
            <a:solidFill>
              <a:srgbClr val="B0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79" y="1664208"/>
            <a:ext cx="36118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B07A1E"/>
                </a:solidFill>
                <a:latin typeface="Segoe UI"/>
                <a:ea typeface="微软雅黑"/>
                <a:cs typeface="微软雅黑"/>
              </a:rPr>
              <a:t>局限与未来工作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· TF-IDF 偏词频，对深层语义理解有限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· 缺人工重复标签，无法算严格 recall / F1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· MinHashLSH 基于词集合，漏掉表达完全不同但语义相同的问题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</a:pPr>
            <a:r>
              <a:rPr sz="115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· 部分大簇仍较宽泛，SQL 类问题可继续细分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44000" cy="749808"/>
          </a:xfrm>
          <a:prstGeom prst="rect">
            <a:avLst/>
          </a:prstGeom>
          <a:solidFill>
            <a:srgbClr val="2D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D5A88"/>
                </a:solidFill>
                <a:latin typeface="Segoe UI"/>
                <a:ea typeface="微软雅黑"/>
                <a:cs typeface="微软雅黑"/>
              </a:rPr>
              <a:t>05  系统演示与总结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E2A3D"/>
                </a:solidFill>
                <a:latin typeface="Segoe UI"/>
                <a:ea typeface="微软雅黑"/>
                <a:cs typeface="微软雅黑"/>
              </a:rPr>
              <a:t>小组分工（6 人）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2000"/>
          </a:xfrm>
          <a:prstGeom prst="rect">
            <a:avLst/>
          </a:prstGeom>
          <a:solidFill>
            <a:srgbClr val="D4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878"/>
                </a:solidFill>
                <a:latin typeface="Segoe UI"/>
                <a:ea typeface="微软雅黑"/>
                <a:cs typeface="微软雅黑"/>
              </a:rPr>
              <a:t>27 / 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81328"/>
          <a:ext cx="11064238" cy="3822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9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成员</a:t>
                      </a:r>
                    </a:p>
                  </a:txBody>
                  <a:tcPr marL="88900" marR="88900" marT="25400" marB="25400" anchor="ctr">
                    <a:solidFill>
                      <a:srgbClr val="E1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负责模块</a:t>
                      </a:r>
                    </a:p>
                  </a:txBody>
                  <a:tcPr marL="88900" marR="88900" marT="25400" marB="25400" anchor="ctr">
                    <a:solidFill>
                      <a:srgbClr val="E1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核心贡献</a:t>
                      </a:r>
                    </a:p>
                  </a:txBody>
                  <a:tcPr marL="88900" marR="88900" marT="25400" marB="25400" anchor="ctr">
                    <a:solidFill>
                      <a:srgbClr val="E1E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  </a:t>
                      </a:r>
                      <a:r>
                        <a:rPr lang="zh-CN" altLang="en-US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顾祎炜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集群环境与运维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三节点 Hadoop + YARN + Spark 部署，HDFS/YARN/Web UI 可用性验证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  </a:t>
                      </a:r>
                      <a:r>
                        <a:rPr lang="zh-CN" altLang="en-US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张之麒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数据工程与 EDA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JSON→JSONL、HDFS 上传、Spark 清洗、Parquet 中间层、全部 EDA 统计与图表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  </a:t>
                      </a:r>
                      <a:r>
                        <a:rPr lang="zh-CN" altLang="en-US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刘轩同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主题聚类与 K 值实验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TF-IDF 特征工程、BisectingKMeans、K=</a:t>
                      </a:r>
                      <a:r>
                        <a:rPr lang="en-US" sz="115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25/</a:t>
                      </a:r>
                      <a:r>
                        <a:rPr sz="115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50/100</a:t>
                      </a:r>
                      <a:r>
                        <a:rPr lang="en-US" sz="115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/125/150</a:t>
                      </a:r>
                      <a:r>
                        <a:rPr sz="115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实验与大簇分析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  </a:t>
                      </a:r>
                      <a:r>
                        <a:rPr lang="zh-CN" altLang="en-US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张万博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簇内去重与领域特征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MinHashLSH 簇内去重、连通分量、ORA 错误码 D2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  </a:t>
                      </a:r>
                      <a:r>
                        <a:rPr lang="zh-CN" altLang="en-US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沈洪萱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评测与 Demo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三层诚实评测 D1、人工标注、precision/Wilson CI、网页+命令行 Demo、D3 视图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   </a:t>
                      </a:r>
                      <a:r>
                        <a:rPr lang="zh-CN" altLang="en-US" sz="1150" b="1" i="0">
                          <a:solidFill>
                            <a:srgbClr val="1E2A3D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陈虹玉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D5A8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PPT 与汇报材料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5C6878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汇报 PPT 制作与排版、素材整理、答辩演练协调</a:t>
                      </a:r>
                    </a:p>
                  </a:txBody>
                  <a:tcPr marL="88900" marR="889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2032</Words>
  <Application>Microsoft Macintosh PowerPoint</Application>
  <PresentationFormat>Widescreen</PresentationFormat>
  <Paragraphs>435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Zhiqi Zhang</cp:lastModifiedBy>
  <cp:revision>7</cp:revision>
  <dcterms:created xsi:type="dcterms:W3CDTF">2026-06-17T05:11:11Z</dcterms:created>
  <dcterms:modified xsi:type="dcterms:W3CDTF">2026-06-17T05:16:43Z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3110A13D75CE37756F2C326A6DF2FC2B_43</vt:lpwstr>
  </property>
  <property fmtid="{D5CDD505-2E9C-101B-9397-08002B2CF9AE}" pid="3" name="KSOProductBuildVer">
    <vt:lpwstr>2052-6.5.2.8766</vt:lpwstr>
  </property>
</Properties>
</file>