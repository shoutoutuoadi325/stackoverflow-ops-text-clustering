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036a2ecb3a4c39" /><Relationship Type="http://schemas.openxmlformats.org/officeDocument/2006/relationships/extended-properties" Target="/docProps/app.xml" Id="R3daceeaa240c42c5" /><Relationship Type="http://schemas.openxmlformats.org/officeDocument/2006/relationships/officeDocument" Target="/ppt/presentation.xml" Id="R82753a20933543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b02a9bfc7e4d14"/>
  </p:sldMasterIdLst>
  <p:notesMasterIdLst>
    <p:notesMasterId xmlns:r="http://schemas.openxmlformats.org/officeDocument/2006/relationships" r:id="R3ef0c9b119dd48cc"/>
  </p:notesMasterIdLst>
  <p:sldIdLst>
    <p:sldId xmlns:r="http://schemas.openxmlformats.org/officeDocument/2006/relationships" id="256" r:id="R0c427cbf13004a41"/>
    <p:sldId xmlns:r="http://schemas.openxmlformats.org/officeDocument/2006/relationships" id="257" r:id="R7e8938ce7e904810"/>
    <p:sldId xmlns:r="http://schemas.openxmlformats.org/officeDocument/2006/relationships" id="258" r:id="R4fbf25a91c1d4eb2"/>
    <p:sldId xmlns:r="http://schemas.openxmlformats.org/officeDocument/2006/relationships" id="259" r:id="R0033ed9c9294435a"/>
    <p:sldId xmlns:r="http://schemas.openxmlformats.org/officeDocument/2006/relationships" id="260" r:id="R0a441fa268174326"/>
    <p:sldId xmlns:r="http://schemas.openxmlformats.org/officeDocument/2006/relationships" id="261" r:id="Rddcfd3f5b36d44da"/>
    <p:sldId xmlns:r="http://schemas.openxmlformats.org/officeDocument/2006/relationships" id="262" r:id="Rc1c7ae7a44c84420"/>
    <p:sldId xmlns:r="http://schemas.openxmlformats.org/officeDocument/2006/relationships" id="263" r:id="R27edcb1c5d304d14"/>
    <p:sldId xmlns:r="http://schemas.openxmlformats.org/officeDocument/2006/relationships" id="264" r:id="R729c208f66f846a4"/>
    <p:sldId xmlns:r="http://schemas.openxmlformats.org/officeDocument/2006/relationships" id="265" r:id="Rc965d0204cb64c99"/>
    <p:sldId xmlns:r="http://schemas.openxmlformats.org/officeDocument/2006/relationships" id="266" r:id="Rcd9a9493a5fe4a8c"/>
    <p:sldId xmlns:r="http://schemas.openxmlformats.org/officeDocument/2006/relationships" id="267" r:id="Rcb6e787d28a04dfc"/>
    <p:sldId xmlns:r="http://schemas.openxmlformats.org/officeDocument/2006/relationships" id="268" r:id="R78a1802355234110"/>
    <p:sldId xmlns:r="http://schemas.openxmlformats.org/officeDocument/2006/relationships" id="269" r:id="R7980afc99e0b4436"/>
    <p:sldId xmlns:r="http://schemas.openxmlformats.org/officeDocument/2006/relationships" id="270" r:id="R3566d8707bd44d0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b02a9bfc7e4d14" /><Relationship Type="http://schemas.openxmlformats.org/officeDocument/2006/relationships/theme" Target="/ppt/theme/theme1.xml" Id="R551cb870fdd04263" /><Relationship Type="http://schemas.openxmlformats.org/officeDocument/2006/relationships/notesMaster" Target="/ppt/notesMasters/notesMaster1.xml" Id="R3ef0c9b119dd48cc" /><Relationship Type="http://schemas.openxmlformats.org/officeDocument/2006/relationships/presProps" Target="/ppt/presProps.xml" Id="R4144d7c0f16f4bd5" /><Relationship Type="http://schemas.openxmlformats.org/officeDocument/2006/relationships/viewProps" Target="/ppt/viewProps.xml" Id="R0547e1d69d624633" /><Relationship Type="http://schemas.openxmlformats.org/officeDocument/2006/relationships/tableStyles" Target="/ppt/tableStyles.xml" Id="R8c61920ceb2c498a" /><Relationship Type="http://schemas.openxmlformats.org/officeDocument/2006/relationships/slide" Target="/ppt/slides/slide1.xml" Id="R0c427cbf13004a41" /><Relationship Type="http://schemas.openxmlformats.org/officeDocument/2006/relationships/slide" Target="/ppt/slides/slide2.xml" Id="R7e8938ce7e904810" /><Relationship Type="http://schemas.openxmlformats.org/officeDocument/2006/relationships/slide" Target="/ppt/slides/slide3.xml" Id="R4fbf25a91c1d4eb2" /><Relationship Type="http://schemas.openxmlformats.org/officeDocument/2006/relationships/slide" Target="/ppt/slides/slide4.xml" Id="R0033ed9c9294435a" /><Relationship Type="http://schemas.openxmlformats.org/officeDocument/2006/relationships/slide" Target="/ppt/slides/slide5.xml" Id="R0a441fa268174326" /><Relationship Type="http://schemas.openxmlformats.org/officeDocument/2006/relationships/slide" Target="/ppt/slides/slide6.xml" Id="Rddcfd3f5b36d44da" /><Relationship Type="http://schemas.openxmlformats.org/officeDocument/2006/relationships/slide" Target="/ppt/slides/slide7.xml" Id="Rc1c7ae7a44c84420" /><Relationship Type="http://schemas.openxmlformats.org/officeDocument/2006/relationships/slide" Target="/ppt/slides/slide8.xml" Id="R27edcb1c5d304d14" /><Relationship Type="http://schemas.openxmlformats.org/officeDocument/2006/relationships/slide" Target="/ppt/slides/slide9.xml" Id="R729c208f66f846a4" /><Relationship Type="http://schemas.openxmlformats.org/officeDocument/2006/relationships/slide" Target="/ppt/slides/slide10.xml" Id="Rc965d0204cb64c99" /><Relationship Type="http://schemas.openxmlformats.org/officeDocument/2006/relationships/slide" Target="/ppt/slides/slide11.xml" Id="Rcd9a9493a5fe4a8c" /><Relationship Type="http://schemas.openxmlformats.org/officeDocument/2006/relationships/slide" Target="/ppt/slides/slide12.xml" Id="Rcb6e787d28a04dfc" /><Relationship Type="http://schemas.openxmlformats.org/officeDocument/2006/relationships/slide" Target="/ppt/slides/slide13.xml" Id="R78a1802355234110" /><Relationship Type="http://schemas.openxmlformats.org/officeDocument/2006/relationships/slide" Target="/ppt/slides/slide14.xml" Id="R7980afc99e0b4436" /><Relationship Type="http://schemas.openxmlformats.org/officeDocument/2006/relationships/slide" Target="/ppt/slides/slide15.xml" Id="R3566d8707bd44d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a2c7761164640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d553cf3f824ded" /><Relationship Type="http://schemas.openxmlformats.org/officeDocument/2006/relationships/notesMaster" Target="/ppt/notesMasters/notesMaster1.xml" Id="R458813f2d45e40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b5130613ac4a6f" /><Relationship Type="http://schemas.openxmlformats.org/officeDocument/2006/relationships/notesMaster" Target="/ppt/notesMasters/notesMaster1.xml" Id="R8f1871b651834e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b4a3feea5a4e46" /><Relationship Type="http://schemas.openxmlformats.org/officeDocument/2006/relationships/notesMaster" Target="/ppt/notesMasters/notesMaster1.xml" Id="R2023154e728b42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632319fa7e43c9" /><Relationship Type="http://schemas.openxmlformats.org/officeDocument/2006/relationships/notesMaster" Target="/ppt/notesMasters/notesMaster1.xml" Id="Re2100ec4570c44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30551205f342c5" /><Relationship Type="http://schemas.openxmlformats.org/officeDocument/2006/relationships/notesMaster" Target="/ppt/notesMasters/notesMaster1.xml" Id="R6d6dd39d4a834b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a0fc1af9b44997" /><Relationship Type="http://schemas.openxmlformats.org/officeDocument/2006/relationships/notesMaster" Target="/ppt/notesMasters/notesMaster1.xml" Id="Rbe9d7562da3343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444fec7bd044a8" /><Relationship Type="http://schemas.openxmlformats.org/officeDocument/2006/relationships/notesMaster" Target="/ppt/notesMasters/notesMaster1.xml" Id="R892a1ddd5dee46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6df425e9f74e99" /><Relationship Type="http://schemas.openxmlformats.org/officeDocument/2006/relationships/notesMaster" Target="/ppt/notesMasters/notesMaster1.xml" Id="R3afdc6f491314a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9e88e1bdb34324" /><Relationship Type="http://schemas.openxmlformats.org/officeDocument/2006/relationships/notesMaster" Target="/ppt/notesMasters/notesMaster1.xml" Id="R348382a8c3284f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39ed0370624a40" /><Relationship Type="http://schemas.openxmlformats.org/officeDocument/2006/relationships/notesMaster" Target="/ppt/notesMasters/notesMaster1.xml" Id="Rdd24d42d81544a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6d1f29e6004bcd" /><Relationship Type="http://schemas.openxmlformats.org/officeDocument/2006/relationships/notesMaster" Target="/ppt/notesMasters/notesMaster1.xml" Id="Rb3f1199eefa74a5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8a398512a04183" /><Relationship Type="http://schemas.openxmlformats.org/officeDocument/2006/relationships/notesMaster" Target="/ppt/notesMasters/notesMaster1.xml" Id="R3add01e6fa8843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93ffaac3dd4fcc" /><Relationship Type="http://schemas.openxmlformats.org/officeDocument/2006/relationships/notesMaster" Target="/ppt/notesMasters/notesMaster1.xml" Id="R4598ffcbe5f24b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598b2638f248f2" /><Relationship Type="http://schemas.openxmlformats.org/officeDocument/2006/relationships/notesMaster" Target="/ppt/notesMasters/notesMaster1.xml" Id="R93c38deead424aa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209471334746a7" /><Relationship Type="http://schemas.openxmlformats.org/officeDocument/2006/relationships/notesMaster" Target="/ppt/notesMasters/notesMaster1.xml" Id="Rbd6c24f24cfe4c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045ad8b779400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3a45e2c05e0427d" /><Relationship Type="http://schemas.openxmlformats.org/officeDocument/2006/relationships/slideLayout" Target="/ppt/slideLayouts/slideLayout2.xml" Id="Rb67d211a72fd47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7d211a72fd47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6be456be4f47be" /><Relationship Type="http://schemas.openxmlformats.org/officeDocument/2006/relationships/image" Target="/ppt/media/image.png" Id="R8e86b35d869c40b9" /><Relationship Type="http://schemas.openxmlformats.org/officeDocument/2006/relationships/image" Target="/ppt/media/image.svg" Id="R5050cf96e5d44971" /><Relationship Type="http://schemas.openxmlformats.org/officeDocument/2006/relationships/notesSlide" Target="/ppt/notesSlides/notesSlide1.xml" Id="Rea0977499ebe47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97d9b3ef2a438c" /><Relationship Type="http://schemas.openxmlformats.org/officeDocument/2006/relationships/image" Target="/ppt/media/image2.png" Id="R8fdd8b1c86ad45a8" /><Relationship Type="http://schemas.openxmlformats.org/officeDocument/2006/relationships/image" Target="/ppt/media/image2.svg" Id="R9741640476174267" /><Relationship Type="http://schemas.openxmlformats.org/officeDocument/2006/relationships/image" Target="/ppt/media/image3.png" Id="R68e24b56302c433e" /><Relationship Type="http://schemas.openxmlformats.org/officeDocument/2006/relationships/image" Target="/ppt/media/image3.svg" Id="Reacf19619cc34307" /><Relationship Type="http://schemas.openxmlformats.org/officeDocument/2006/relationships/image" Target="/ppt/media/image4.png" Id="R862368f6f3d64b5a" /><Relationship Type="http://schemas.openxmlformats.org/officeDocument/2006/relationships/image" Target="/ppt/media/image4.svg" Id="Rab763f5ad7344031" /><Relationship Type="http://schemas.openxmlformats.org/officeDocument/2006/relationships/notesSlide" Target="/ppt/notesSlides/notesSlide2.xml" Id="Rdc85fe56e90448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f2f5eeb2a24ab4" /><Relationship Type="http://schemas.openxmlformats.org/officeDocument/2006/relationships/notesSlide" Target="/ppt/notesSlides/notesSlide3.xml" Id="R7bfaf1b3a96440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df02de44db4868" /><Relationship Type="http://schemas.openxmlformats.org/officeDocument/2006/relationships/image" Target="/ppt/media/image5.png" Id="R4515ae603ba44c32" /><Relationship Type="http://schemas.openxmlformats.org/officeDocument/2006/relationships/image" Target="/ppt/media/image5.svg" Id="Rbb01b7870b75423a" /><Relationship Type="http://schemas.openxmlformats.org/officeDocument/2006/relationships/image" Target="/ppt/media/image6.png" Id="Rdc865e4bb3e44c7f" /><Relationship Type="http://schemas.openxmlformats.org/officeDocument/2006/relationships/image" Target="/ppt/media/image6.svg" Id="R0cd008c450ab407d" /><Relationship Type="http://schemas.openxmlformats.org/officeDocument/2006/relationships/image" Target="/ppt/media/image7.png" Id="R32a3b12105cc4aa7" /><Relationship Type="http://schemas.openxmlformats.org/officeDocument/2006/relationships/image" Target="/ppt/media/image7.svg" Id="R61ee3628d0b14589" /><Relationship Type="http://schemas.openxmlformats.org/officeDocument/2006/relationships/notesSlide" Target="/ppt/notesSlides/notesSlide4.xml" Id="R411f975ba89244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9800cec19445c2" /><Relationship Type="http://schemas.openxmlformats.org/officeDocument/2006/relationships/notesSlide" Target="/ppt/notesSlides/notesSlide5.xml" Id="R948bbb71d3604d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90c718c25842e8" /><Relationship Type="http://schemas.openxmlformats.org/officeDocument/2006/relationships/image" Target="/ppt/media/image8.png" Id="R6f8ebb19656d4daa" /><Relationship Type="http://schemas.openxmlformats.org/officeDocument/2006/relationships/image" Target="/ppt/media/image8.svg" Id="R87ea1e1d8b84486d" /><Relationship Type="http://schemas.openxmlformats.org/officeDocument/2006/relationships/image" Target="/ppt/media/image9.png" Id="R8a67e420e47e4128" /><Relationship Type="http://schemas.openxmlformats.org/officeDocument/2006/relationships/image" Target="/ppt/media/image9.svg" Id="Raef28916723c4412" /><Relationship Type="http://schemas.openxmlformats.org/officeDocument/2006/relationships/notesSlide" Target="/ppt/notesSlides/notesSlide6.xml" Id="R617dbfff9bc544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32ec8130604401" /><Relationship Type="http://schemas.openxmlformats.org/officeDocument/2006/relationships/notesSlide" Target="/ppt/notesSlides/notesSlide7.xml" Id="R39fd05c01a284a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d6e1c733974a69" /><Relationship Type="http://schemas.openxmlformats.org/officeDocument/2006/relationships/notesSlide" Target="/ppt/notesSlides/notesSlide8.xml" Id="R1b9dc96203bd4f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0a6b9f768d4775" /><Relationship Type="http://schemas.openxmlformats.org/officeDocument/2006/relationships/notesSlide" Target="/ppt/notesSlides/notesSlide9.xml" Id="Rc8b76296b9dc4d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4dcef2f61444af" /><Relationship Type="http://schemas.openxmlformats.org/officeDocument/2006/relationships/notesSlide" Target="/ppt/notesSlides/notesSlide10.xml" Id="R163e4d6010fd45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e1f7d8001f40ba" /><Relationship Type="http://schemas.openxmlformats.org/officeDocument/2006/relationships/notesSlide" Target="/ppt/notesSlides/notesSlide11.xml" Id="R622788d1e8094e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70cc5488694b1c" /><Relationship Type="http://schemas.openxmlformats.org/officeDocument/2006/relationships/notesSlide" Target="/ppt/notesSlides/notesSlide12.xml" Id="R562b29bb3af5407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56a3a157d04ae5" /><Relationship Type="http://schemas.openxmlformats.org/officeDocument/2006/relationships/notesSlide" Target="/ppt/notesSlides/notesSlide13.xml" Id="R76b7c1573f7248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488508ad5c457d" /><Relationship Type="http://schemas.openxmlformats.org/officeDocument/2006/relationships/notesSlide" Target="/ppt/notesSlides/notesSlide14.xml" Id="R960cc5fc1e3046d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f1ae4a59fc4782" /><Relationship Type="http://schemas.openxmlformats.org/officeDocument/2006/relationships/notesSlide" Target="/ppt/notesSlides/notesSlide15.xml" Id="R93fce25dde1643e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E461F6-3214-4F24-8758-AC9F05EA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B0ED0-ECE5-4835-8E77-F2B3048A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04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00584-2003-46B3-91CA-19D9E49D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9144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6b35d869c40b9">
            <a:extLst>
              <a:ext uri="{96DAC541-7B7A-43D3-8B79-37D633B846F1}">
                <asvg:svgBlip xmlns:asvg="http://schemas.microsoft.com/office/drawing/2016/SVG/main" r:embed="R5050cf96e5d449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6300" y="10858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56E16D-D3E8-41D9-9595-6C2F5B00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685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运维文本聚类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30C85-B461-4766-9EFC-98EAB3AE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DE6E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DE6ED"/>
                </a:solidFill>
                <a:latin typeface="Aptos"/>
                <a:ea typeface="Aptos"/>
                <a:cs typeface="Aptos"/>
              </a:rPr>
              <a:t>基于 Hadoop + Spark 的 StackOverflow Oracle 问答去重与主题聚类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830BA-7D5A-420B-9D61-EF470B89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85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9C46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9C46A"/>
                </a:solidFill>
                <a:latin typeface="Aptos"/>
                <a:ea typeface="Aptos"/>
                <a:cs typeface="Aptos"/>
              </a:rPr>
              <a:t>数据规模 152758 问题 | Spark ML | MinHashLSH | CLI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CABB9-E2A9-4F6F-B171-78449719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3143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444"/>
          </a:solidFill>
          <a:ln xmlns:a="http://schemas.openxmlformats.org/drawingml/2006/main" w="9525">
            <a:solidFill>
              <a:srgbClr val="40556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2F737D-BB65-49D6-95AF-CF23B499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05100"/>
            <a:ext cx="280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汇报主线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29E963-A84E-47FF-B340-803C45E5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28003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1. 集群与数据</a:t>
            </a:r>
          </a:p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2. 清洗与特征工程</a:t>
            </a:r>
          </a:p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3. 主题聚类与相似问题发现</a:t>
            </a:r>
          </a:p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4. 结果、Demo 与改进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28C4E-5F02-4ABA-897A-D6FB4A9F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8C4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8C4CC"/>
                </a:solidFill>
                <a:latin typeface="Aptos"/>
                <a:ea typeface="Aptos"/>
                <a:cs typeface="Aptos"/>
              </a:rPr>
              <a:t>2026-05-27</a:t>
            </a:r>
          </a:p>
        </p:txBody>
      </p:sp>
    </p:spTree>
    <p:extLst>
      <p:ext uri="{BB962C8B-B14F-4D97-AF65-F5344CB8AC3E}">
        <p14:creationId xmlns:p14="http://schemas.microsoft.com/office/powerpoint/2010/main" val="7898337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FA78D7-03C2-48D3-8F27-F308B4C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5BE644-18A3-45EC-BACD-514B7705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F82D4-4E94-44A5-97B0-B02E76DF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01 项目背景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0046C-47FA-4C4F-93FA-BB346671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从重复问答到可复用知识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EC1C1-69FC-4707-9ECD-A8484849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将表达不同但本质相同的 Oracle 问题聚到一起，服务检索、去重和知识库整理。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3D4612-F21D-4547-932C-43E61722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DF9D2-E68F-4AEE-B6EA-BB4D0398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63E65A-2F5E-4B92-8187-50D1EA78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41EE6-6F1C-4589-B923-0D9C943F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30289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BE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5D328-4DEF-4AED-BE0D-1486CAB1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问题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2D41D-CD79-4D26-8134-0EC543F0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67000"/>
            <a:ext cx="26860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问答数量大，标题、正文、回答和评论结构复杂，重复与近重复问题分散。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d8b1c86ad45a8">
            <a:extLst>
              <a:ext uri="{96DAC541-7B7A-43D3-8B79-37D633B846F1}">
                <asvg:svgBlip xmlns:asvg="http://schemas.microsoft.com/office/drawing/2016/SVG/main" r:embed="R97416404761742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09900" y="23812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3D647-2290-46F5-929E-EB1B282F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30289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A1BAD-24ED-43F2-BC9F-EC4702C7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43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目标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FB4602-5B15-4996-A896-ACB0156A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67000"/>
            <a:ext cx="26860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构建 Hadoop + Spark 大数据链路，完成清洗、特征、聚类、相似边和重复簇。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24b56302c433e">
            <a:extLst>
              <a:ext uri="{96DAC541-7B7A-43D3-8B79-37D633B846F1}">
                <asvg:svgBlip xmlns:asvg="http://schemas.microsoft.com/office/drawing/2016/SVG/main" r:embed="Reacf19619cc343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3812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40CA4F-6F30-445A-8086-3FE0F184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09800"/>
            <a:ext cx="30289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77B230-B264-4B4A-BD53-8CB5F489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43150"/>
            <a:ext cx="2686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交付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B6A275-8F71-4A14-8317-37A9C72A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67000"/>
            <a:ext cx="26860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源代码、脚本、报告、PPT、结果样例与可演示 CLI 查询。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368f6f3d64b5a">
            <a:extLst>
              <a:ext uri="{96DAC541-7B7A-43D3-8B79-37D633B846F1}">
                <asvg:svgBlip xmlns:asvg="http://schemas.microsoft.com/office/drawing/2016/SVG/main" r:embed="Rab763f5ad73440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48900" y="2381250"/>
            <a:ext cx="419100" cy="419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7079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AE940C-2A64-43BE-9B30-F52F329A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5B91EB-C349-414E-84EE-8D07C3AA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13708-936E-43FA-8BE8-725F713C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02 数据集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03361-132D-4797-B7AD-CD819833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Oracle 问答数据规模与结构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5299F-46A4-4777-85C4-2A1AC8A7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来源为 Stack Exchange Data Dump，筛选 oracle-database 相关问题及其回答、评论。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CB381-2C33-45E5-9EB4-72E59928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689B29-A880-4A7E-9F57-DCD0203D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7526B-36EF-4DC6-A8E2-E9E389A3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6F462-18DD-4503-B215-AFC31FF9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5AEAC2-F9D8-4DB5-9E7A-FF854EC7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F8E4DA-F9E2-402D-BBE4-8F995D40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62175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152758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8E6907-1DC4-46F7-9393-A8C1DA3C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问题数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CA237-3645-4D7C-8A6E-C4A752A7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002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FAB72D-CFD5-4C91-A12B-2B81FD0A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0002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154AF2-1804-47A8-8086-DB28461D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162175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203393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5A2D4-54AB-4803-8153-52BB2457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3365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回答数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F70BAE-1868-4472-8748-FB20724F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002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9CCCD9-EEB6-4572-94D2-C97ACA8C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002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2F88E-1D1E-43F8-87E2-0F50DB78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62175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331642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D15C0-3975-40B1-BB77-B808B861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3365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问题评论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09578C-0F17-4B3B-A9AE-BE015BED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002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7A7799-CD2F-4C0C-BEF4-973E61AD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002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8ECC0C-FADD-4B7B-B77F-46E5C5A2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162175"/>
            <a:ext cx="1676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220296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9F79B0-3F48-4A76-8542-8CD46AEA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33650"/>
            <a:ext cx="167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回答评论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776ACB-6FEA-4F80-B601-145B4B3B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43250"/>
            <a:ext cx="2762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5A96EF-D939-4C05-A5E6-153D1A2F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432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F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37FD7-0161-4741-A786-EB180642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43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908089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4E9791-533B-4B84-9E11-3347C36E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76650"/>
            <a:ext cx="2438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总文本对象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6F459B-6E3A-4CE3-AF94-8EC589BE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4095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E43723-B3A5-4227-B610-B7A9CEFD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3752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嵌套 JSON 结构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D399E0-2548-4056-B65F-10199775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question_id, title, body, tags, score, comments, answers；正文和回答均含 HTML、代码块与链接。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AFD630-9B30-4B61-A26E-3D2F9D8D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72000"/>
            <a:ext cx="4095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9430F5-1C46-45C7-8BAC-0A558D95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05350"/>
            <a:ext cx="3752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工程处理重点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61AD79-38C3-49A0-97FB-337C59E1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029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先将大数组 JSON 转为 JSONL，再由 Spark 并行读取并写出 Parquet，降低反复实验成本。</a:t>
            </a:r>
          </a:p>
        </p:txBody>
      </p:sp>
    </p:spTree>
    <p:extLst>
      <p:ext uri="{BB962C8B-B14F-4D97-AF65-F5344CB8AC3E}">
        <p14:creationId xmlns:p14="http://schemas.microsoft.com/office/powerpoint/2010/main" val="15460973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0D0D81-B152-4E08-A1B7-ABA650C8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461494-7656-4544-B4DF-B67D6731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AE3FC-77F3-41AE-82E2-B19ECB92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03 集群环境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DEE92-9EDC-4DDE-A96F-98A59718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三节点 Hadoop/Spark 实验环境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50D0DB-7F84-4D40-98F6-42E773DF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HDFS 负责存储，YARN 负责资源调度，Spark on YARN 负责分布式文本处理。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60652-A708-427C-9F0C-23421F0C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7B347-D3B3-495D-871F-2A4DA751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B39846-3415-4D99-BD3F-AF505016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6C34B-CACD-4EA1-96C9-E3509375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AA245-BF71-471D-978C-1FB94D3A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28850"/>
            <a:ext cx="2514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master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1A981-022B-4C07-A49A-7F3D6129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5146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10.176.62.239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NameNode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ResourceManager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Spark Driver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15ae603ba44c32">
            <a:extLst>
              <a:ext uri="{96DAC541-7B7A-43D3-8B79-37D633B846F1}">
                <asvg:svgBlip xmlns:asvg="http://schemas.microsoft.com/office/drawing/2016/SVG/main" r:embed="Rbb01b7870b7542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09900" y="22479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D7E810-6AA5-4D45-883E-740321F6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BF788-9F87-472E-8490-75B95585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28850"/>
            <a:ext cx="2514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worker1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07FDA-C539-4B6D-8516-4D0B3A5D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52700"/>
            <a:ext cx="25146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10.176.62.240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DataNode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NodeManager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65e4bb3e44c7f">
            <a:extLst>
              <a:ext uri="{96DAC541-7B7A-43D3-8B79-37D633B846F1}">
                <asvg:svgBlip xmlns:asvg="http://schemas.microsoft.com/office/drawing/2016/SVG/main" r:embed="R0cd008c450ab40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438900" y="22479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F4AB2-EF91-4461-9774-4D50B77C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955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332130-7C1E-4C4E-8AD3-3B38E343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28850"/>
            <a:ext cx="2514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worker2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BD722D-A582-4B8E-8250-D1AD4487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52700"/>
            <a:ext cx="25146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10.176.62.241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DataNode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NodeManager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3b12105cc4aa7">
            <a:extLst>
              <a:ext uri="{96DAC541-7B7A-43D3-8B79-37D633B846F1}">
                <asvg:svgBlip xmlns:asvg="http://schemas.microsoft.com/office/drawing/2016/SVG/main" r:embed="R61ee3628d0b145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867900" y="22479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2D8AF-63EB-425F-A271-EEDAE760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291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FFF5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2978D-40D8-4AB3-9D0A-4A98057E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053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OpenJDK 8u412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057601-B3FF-4E04-BD2C-5893BD19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E8F0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CFF2A7-5E59-4B80-9727-01EAFF2B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7053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Hadoop 3.3.6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546BF0-96C6-45F4-BA15-DB8387C5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291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E5F4F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80F0DF-F2C7-47E3-83FA-09D05805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053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Spark 3.5.1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F30A2D-91BF-4553-96C4-E3A908C5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291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BE6"/>
          </a:solidFill>
          <a:ln xmlns:a="http://schemas.openxmlformats.org/drawingml/2006/main" w="9525">
            <a:solidFill>
              <a:srgbClr val="FDEBE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37220A-F117-467C-BAA1-CCE7962F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05350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Python 3.x</a:t>
            </a:r>
          </a:p>
        </p:txBody>
      </p:sp>
    </p:spTree>
    <p:extLst>
      <p:ext uri="{BB962C8B-B14F-4D97-AF65-F5344CB8AC3E}">
        <p14:creationId xmlns:p14="http://schemas.microsoft.com/office/powerpoint/2010/main" val="6825704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49DF80-0721-4FDC-8E09-40341C2F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52FA9-5A2F-4A4B-9114-154BE921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FB9B2-07CA-43E2-8495-159CF5B6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04 系统架构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19595-30A8-445B-85C3-D98D29CE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从原始 JSON 到可查询重复簇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AE74E-0A6E-4F4F-99E1-6D32D542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核心链路分为数据入湖、Spark 处理、模型输出和 CLI Demo 四层。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6F4F9D-FC95-47C1-8BA2-79C8C12E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E17B41-05C2-45DB-9E6F-0007DC51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03D37-F1AC-4969-85AF-D9384D11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0AA9A-2775-4DD5-9B89-46F5D3CB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1200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C17D95-A883-4E68-A6F5-3B30F644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47975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830AA5-D7CF-4B6E-8DB8-91FF696B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71825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原始大数组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311C0A-83AE-4C23-A396-B65E510A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7182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27EBE5-6E3A-49D0-A456-1BAC693D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146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BC465F-F5DE-4E1C-9D14-4BFF806E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14625"/>
            <a:ext cx="1200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8544C4-CBFC-4350-AF9E-0650D9B5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47975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JSONL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D17CC-521C-401A-92E7-BE8A4A2B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71825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逐行记录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AF250D-D10B-4D52-8ED8-992D9580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7182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532FC1-B6D0-4D54-B6DA-0EA25BC3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BB389-7343-4BCB-8E9C-3DA36F51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14625"/>
            <a:ext cx="1200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832ACD-83C9-4995-BC27-84C2B668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847975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HDFS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6DA093-6FF6-45C2-9A47-91412A01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171825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分布式存储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322F07-3F8B-47C5-9997-1FB28935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7182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E3BF22-701F-4E6E-A9D0-5743AC1C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146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AED140-B6B9-4BBF-963C-84345FB2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14625"/>
            <a:ext cx="1200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B2C4BC-293A-4CDD-B45A-32FEFA3E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847975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Parquet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255412-D8E0-4F18-9D0D-25AFA961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71825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清洗结构化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23EFF-7564-4270-87E2-7E042FFB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17182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B0965D-9FF4-4D92-BB9D-AF37312D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146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148EAF-1D20-4AC6-856D-F6F1A2FA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200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35B9A5-8746-41E8-91FB-45C5BB64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47975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Features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310148-96F3-48CC-8778-ED097A39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71825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Token/TF-IDF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617BAC-8BE4-4096-85E9-F93B7D08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7182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4DC2F-7C7D-4CE2-B965-1272F791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146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6AEC0B-7E57-4A1C-94E1-86101607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1200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A9D49-FE0E-4FCF-A2C2-6768D5BE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47975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Clusters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861770-8C8A-4A93-A90B-F5A10FAD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71825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主题簇/重复簇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6DFE7A-661A-4B4F-9D52-A94EFF66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17182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AEA0F0-2034-46A7-A670-BF8508DF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146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D6B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B39282-A8B2-44ED-8D38-26A6FC0F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714625"/>
            <a:ext cx="1200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BE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33A74-9172-461C-AFD8-9DCDFECA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847975"/>
            <a:ext cx="857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B1E0D3-7441-4670-AD57-5BD8D0D5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171825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命令行查询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B3D75C8-C797-4E34-8823-81DCFB98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29125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DA25E5-3EC8-410B-897C-3BA8AACA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62475"/>
            <a:ext cx="2514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HDFS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1E49E1-93AD-421C-B2F1-9B811186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86325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raw/jsonl/parquet/output 分层目录，支持断点重跑。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513C73-B7DA-4DF1-8291-12D3CE32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29125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ADE936C-2A91-4A74-950F-980C38C9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62475"/>
            <a:ext cx="2514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Spark ML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04E235-C4C6-4090-AFD6-56CD2FCDF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86325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RegexTokenizer、StopWordsRemover、HashingTF、IDF、BisectingKMeans、MinHashLSH。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06FF224-E213-468C-BB88-19D94385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29125"/>
            <a:ext cx="2857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D43C32-16C5-436C-8689-1300616E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62475"/>
            <a:ext cx="2514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展示层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C3ECCA-3439-48CD-970A-DBAC8BCB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86325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按 question_id、keyword、top clusters 查询并解释相似问题。</a:t>
            </a:r>
          </a:p>
        </p:txBody>
      </p:sp>
    </p:spTree>
    <p:extLst>
      <p:ext uri="{BB962C8B-B14F-4D97-AF65-F5344CB8AC3E}">
        <p14:creationId xmlns:p14="http://schemas.microsoft.com/office/powerpoint/2010/main" val="564840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63D425-1DC8-40CC-B71F-6EB90FD0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5C518-E62C-4AC0-9F99-5B1C35FC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85AD8-5830-47F9-BD87-7B9F2249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05 数据预处理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C2EDF-02BA-4789-844D-5CF795C0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让问答文本适合分布式建模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2E0DF6-C22B-42CC-BAAB-219708E8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预处理目标不是删得越干净越好，而是保留能帮助去重的技术信号。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6F48F-E854-453E-9173-3403E568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766A7-241E-4E6B-ABA8-02F57A53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A4B89-66DD-4607-A1BB-47875A29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A5D292-1E7A-47E3-A716-604D40E2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1422B2-45A7-4F3A-8A60-BAEAE101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57400"/>
            <a:ext cx="7467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JSONL 转换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4B645-8FAE-4DF7-8CC0-AEB5F68E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7467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原始 JSON 大数组先转逐行 JSON，避免 Spark 读取单个大对象。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EB6FE4-37B3-4539-8470-C7446FE7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2F7671-4151-4B2B-98DA-208CA40E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71800"/>
            <a:ext cx="7467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HTML 清洗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F62DF-F83D-4B45-BCCF-1776C60B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7467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去除标签、实体、链接噪声，保留 SQL、错误码、语言名和版本号。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A874F7-5521-4A99-A960-41AD8F14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6FC1A4-31DC-4175-90AE-A77B8698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86200"/>
            <a:ext cx="7467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文档构造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4BB8DB-D4B8-44D1-A73B-74C70910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7467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doc_text = title * 3 + body * 2 + tags + top_3_answers。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054738-597B-4C4B-9F2C-5FC9BAE1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7810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B4CD6B-487C-4A75-BA3D-7176C7E4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7467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评论策略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F16089-CF49-4165-A2EC-5AB25365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74676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评论进入 EDA，不进入主聚类特征，降低噪声。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ebb19656d4daa">
            <a:extLst>
              <a:ext uri="{96DAC541-7B7A-43D3-8B79-37D633B846F1}">
                <asvg:svgBlip xmlns:asvg="http://schemas.microsoft.com/office/drawing/2016/SVG/main" r:embed="R87ea1e1d8b8448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29750" y="2247900"/>
            <a:ext cx="666750" cy="66675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7e420e47e4128">
            <a:extLst>
              <a:ext uri="{96DAC541-7B7A-43D3-8B79-37D633B846F1}">
                <asvg:svgBlip xmlns:asvg="http://schemas.microsoft.com/office/drawing/2016/SVG/main" r:embed="Raef28916723c441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29750" y="3581400"/>
            <a:ext cx="666750" cy="666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6822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BEBD23-7FFF-46C2-A84B-547F6F6F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2D492B-6CDC-47EE-A9F3-38E0C317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5289C7-920B-4644-8C5E-11695903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06 特征工程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C4835-8F25-487B-818A-3483EF1E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两套向量服务两类问题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CE9AC-ACC5-4D98-B61C-16928DEC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主题理解用 TF-IDF，近重复发现用 binary HashingTF + MinHashLSH。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4EDBF-C6B7-4E07-8F56-3EDC0732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BA825-3844-4786-90D3-C3C5C13D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93745-14D6-4FFB-BD1F-5667A806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7FF94-58A3-4C43-BABA-AB25A649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33600"/>
            <a:ext cx="442912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BBC02-4164-4D66-8D67-28AB42B9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4086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主题聚类向量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5410B-BA71-4C08-9125-FD6A5B42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90800"/>
            <a:ext cx="4086225" cy="1876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RegexTokenizer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StopWordsRemover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HashingTF(binary=False)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IDF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Normalizer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BisectingKMeans(k=50)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C661E-605F-473B-A1E7-595989D3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33600"/>
            <a:ext cx="442912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429CB-8C35-4A74-B6DC-8F2D006A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66950"/>
            <a:ext cx="4086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去重候选向量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FDA74-7AEB-4E78-A03F-AC91C0E6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590800"/>
            <a:ext cx="4086225" cy="1876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RegexTokenizer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StopWordsRemover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HashingTF(binary=True)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MinHashLSH hash bucket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Jaccard similarity filter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E6F15A-6D97-4DAA-833C-44B68037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0101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FFF5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E263F-7079-4C94-B0F8-B08AC56E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086350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保留 ora-xxxxx 错误码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6543CC-62EA-474B-B39A-24379576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101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FFF5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906AD-BEF9-4E83-9C94-8F2646F4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8635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保留 sql/plsql/jdbc/c# 等技术词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4F1EF6-3C71-4992-8576-29A39FA2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0101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FFF5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FA716F-A284-4A7E-B858-E365D0E4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086350"/>
            <a:ext cx="2628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移除 thanks/help/problem 等通用词</a:t>
            </a:r>
          </a:p>
        </p:txBody>
      </p:sp>
    </p:spTree>
    <p:extLst>
      <p:ext uri="{BB962C8B-B14F-4D97-AF65-F5344CB8AC3E}">
        <p14:creationId xmlns:p14="http://schemas.microsoft.com/office/powerpoint/2010/main" val="15128067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42BBAD-B587-4D00-9BEF-92A399F6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C5C8F0-BA42-4086-A435-5A477E37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23B33-41D5-402D-95AF-08E29A5D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07 EDA 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E3980-8BF4-4510-9167-45BD00F1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数据主题集中在 SQL 与 Oracle 生态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11478-E5E5-487D-B150-71FA372D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EDA 用于验证数据完整性，也为聚类结果解释提供上下文。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754CAB-C8FD-43F9-BB13-01C6E023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CF0CDB-C391-48B2-B2A0-3ABB6330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B7AFE-A458-4D4A-B956-558D91A3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3D7207-D5F0-4D18-9A77-3E570775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E205BE-AA01-40B5-854E-523A3867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313DD-A3C0-46A8-A9E0-25A4ACAC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85975"/>
            <a:ext cx="1771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1.331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BACC65-A1CD-462A-9CFB-7FB33451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平均每问题回答数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1C730-9263-4F91-8677-EF962613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9240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EF053-655D-4876-A096-D50D8ABD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DDF96D-F621-45D8-BD8A-C261C4D7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85975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3471C-7434-4774-AA11-BBB0AB9B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5745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最大回答数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3AAB8A-694B-4021-8B3F-334A1AD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240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E9AAC-9551-4CDE-AD85-34A2062D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11F38-B844-494E-923D-139DE63F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85975"/>
            <a:ext cx="1771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29937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47E8DC-26F2-4322-8258-F958523F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57450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无回答问题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8E530D-C933-495B-8F7E-6ACF94B1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240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06E087-C7A6-432A-BD9B-57A2C381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0D1AF5-7B02-403E-AC14-E4549490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1382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3AAF41-A992-467E-958C-9A3058B0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5745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最高分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473B3F-F0CC-4E92-9188-4A892D5C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44958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5DC2AB-BEBA-4BA2-B95E-4E6847B5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415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Top 标签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A72B78-E9A7-4EE9-A807-7A149388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86200"/>
            <a:ext cx="4152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oracle-database 152758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sql 69761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plsql 22721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oracle11g 12287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java 10796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B64CC0-8344-4E34-9DE0-C647C3B2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0"/>
            <a:ext cx="44958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2BE603-EDBB-4D36-9DAC-CA440D12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62350"/>
            <a:ext cx="4152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常见 Oracle 错误码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D422D2-F7DA-40DE-BEF2-E420F4B8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86200"/>
            <a:ext cx="41529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ora-06512 5276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ora-06550 3584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ora-00904 2212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ora-00933 1275</a:t>
            </a:r>
          </a:p>
          <a:p xmlns:a="http://schemas.openxmlformats.org/drawingml/2006/main">
            <a:pPr algn="l">
              <a:defRPr sz="13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ora-00942 1268</a:t>
            </a:r>
          </a:p>
        </p:txBody>
      </p:sp>
    </p:spTree>
    <p:extLst>
      <p:ext uri="{BB962C8B-B14F-4D97-AF65-F5344CB8AC3E}">
        <p14:creationId xmlns:p14="http://schemas.microsoft.com/office/powerpoint/2010/main" val="4257565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FFF731-6C35-4C1C-BBF7-4679FFAB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7FCEA-B974-42C8-A6A7-39446D84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0CFB6-F0F9-4AB4-B3B1-235B63DC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08 主题聚类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01F8B-85DB-4191-AF46-BBD579BE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BisectingKMeans 用于观察主题分布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BCF02-BC98-41F5-A4FE-88DA0AE5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主题聚类不是最终去重依据，而是帮助解释数据中主要问题类型。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F6893-66AD-41F2-9F9C-A1D4AE0C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8A1B8-0B8A-403C-B697-ED1E6898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9B4C8-2E94-4EBA-9017-36220A56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20077-19D1-450E-AC27-F13917B7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E4EE9-C61A-44B8-A3F3-06F02027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8CEC5-7FA9-4DB8-9B66-9C256343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00275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152758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AEE8C-21A7-470D-AC73-44A48073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71750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输入问题数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594CB1-A307-426F-8254-BFF31F02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D98CE-A5E8-45A5-A3F3-43D08739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44332C-EBD9-42E8-B415-44C44BA7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00275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D038E4-0F8B-45CD-B6A9-A26E8ABD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7175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聚类数 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521849-1D4B-4E15-967D-2547DFFE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38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0A83BA-0A37-4081-8A91-C560AF9E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38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A57B81-52E0-4E19-8211-A4AEDD69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0275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F968B5-3AD2-4AF2-836A-6B3C027C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71750"/>
            <a:ext cx="139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实际簇数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20C77E-3AB3-43C7-B9E3-BD1A4972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3835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6A5FE7-0FC7-4C4C-9217-0D3DAB94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383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0833E-904C-4ABD-ABD3-D35ABF7E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00275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-0.0062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1F5AF7-69B7-4496-9FF6-7F8849FA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71750"/>
            <a:ext cx="1866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Silhouette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E52CD-8F56-4D6F-BB41-513FD55F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57600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6405EA-F46B-46D7-9344-AA8FDC31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403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Top 簇规模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DDAB3-004E-49AB-B431-67DBCD77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14800"/>
            <a:ext cx="4038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cluster 36: 35914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cluster 0: 28999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cluster 1: 10753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cluster 2: 5604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108124-6A60-40E8-AB9F-7E5D7D84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57600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D6AE6C-A6CB-4682-ADB7-25FAB790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90950"/>
            <a:ext cx="403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cluster 0 Top terms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30C043-AAC8-4567-955C-FABB77FD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14800"/>
            <a:ext cx="4038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table, query, sql, select, data, like, get, one, column, rows, value</a:t>
            </a:r>
          </a:p>
        </p:txBody>
      </p:sp>
    </p:spTree>
    <p:extLst>
      <p:ext uri="{BB962C8B-B14F-4D97-AF65-F5344CB8AC3E}">
        <p14:creationId xmlns:p14="http://schemas.microsoft.com/office/powerpoint/2010/main" val="14733459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3CC03D-0637-4684-9CD2-13FF73EC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AF4E0-F5C6-4818-8EC7-4CA4C38A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18396F-B97B-43E6-A408-DD4A62DE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09 去重算法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E6FCE-EFBD-4387-88CE-C813E658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MinHashLSH + 连通分量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EB221-A18F-49EC-8E92-B6F68269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先找到高置信相似边，再把相似边合并成重复问题簇。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B0AF4-F810-4BB3-A2A1-3515C71B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D29039-EFB0-4DA3-A7C5-78D9BD50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7C66F-937B-4306-B4F4-8A7FDE16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91622-CD10-46C2-95C2-D2E63A60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1524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81F9A-91BB-4DC9-B094-B0E6F327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Token 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651046-EBFA-47C1-84D1-4DDD4E79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86100"/>
            <a:ext cx="1181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binary HashingTF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008680-2322-46BA-A491-F1732921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181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E48F7-88E8-4CA8-B3F2-9322B8D5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24200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B16F07-1878-4701-BB73-A58CC39F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28900"/>
            <a:ext cx="1524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D25381-8620-4856-9F65-F053B239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622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MinHash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2CF5A0-581A-4466-AFE0-FA6FE0F8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1181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hash bucket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19652F-FFD4-4396-9F4A-A92A88BF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81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269B63-F059-4CD4-8B34-B6C5F2B4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24200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B0CCB-F5A2-48E5-B8AB-83857718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28900"/>
            <a:ext cx="1524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EF8379-0AC3-4C17-A855-F6D90871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622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Jaccard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3BB0D-C433-4F41-877D-E1530864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86100"/>
            <a:ext cx="1181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distance/similarity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34B2F5-DAF4-4B33-A0D2-779524B4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0C1C22-754F-408B-AACC-A7A50C58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24200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6BC8AE-D173-4C90-9C7D-0719366A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28900"/>
            <a:ext cx="1524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3D9C3A-4F6B-46E9-83CB-4A69A5E8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622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Filter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65E2BB-5546-4DB0-8A31-78E04496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86100"/>
            <a:ext cx="1181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distance &lt;= 0.15</a:t>
            </a:r>
          </a:p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similarity &gt;= 0.85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756262-ADD0-44A0-AE9C-097DA1A5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81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AD57B3-2BBA-4109-A2F5-7A9E3B93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124200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363E8E-CEBF-466D-B5C9-EBEDA94A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28900"/>
            <a:ext cx="1524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0E7456-7B79-4113-B0C3-5E5BFB0B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622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Components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FB4994-63CC-4A7A-AC60-2EA7FACC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86100"/>
            <a:ext cx="1181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duplicate clusters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4E7F55-2A19-47CB-982D-901A57F2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57700"/>
            <a:ext cx="4000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9A266A-86E7-473C-BAA3-D4B1EBFC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91050"/>
            <a:ext cx="3657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为什么使用 0.85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CC0B1D-4236-42FD-A52A-EDA56480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14900"/>
            <a:ext cx="3657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低阈值会产生大量候选 pair 和大 bucket；最终实验采用高阈值，保证稳定完成和结果可解释。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83FBC8-368D-4B68-B8E8-52CC7EFC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457700"/>
            <a:ext cx="4000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46D924-3799-4153-BC76-9A085AF1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91050"/>
            <a:ext cx="3657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参数含义统一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1A8FF1-A00C-4968-9A9A-0A5B6248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14900"/>
            <a:ext cx="3657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0.65 作为推荐候选阈值；0.85 是本次最终实验阈值，结果偏高 precision、低 recall。</a:t>
            </a:r>
          </a:p>
        </p:txBody>
      </p:sp>
    </p:spTree>
    <p:extLst>
      <p:ext uri="{BB962C8B-B14F-4D97-AF65-F5344CB8AC3E}">
        <p14:creationId xmlns:p14="http://schemas.microsoft.com/office/powerpoint/2010/main" val="142426675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DE396C-8689-4DE9-B21B-2BFC4A9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DF8E88-373F-47A9-A88A-14E688C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335E9-41A0-4C97-85BF-FE9F2649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10 最终结果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F8AA6-BBFC-4BB3-BCEC-AADE8AA5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高置信阈值下得到 2 对近重复问题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67FA6-58C7-4345-940A-6B8C75D7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结果少但质量高，适合作为可解释的课程演示样例。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92E38-9D5F-45CB-8907-6D17AD22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3AF549-4D79-4919-89D6-62D2F32E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214E1B-3C17-4A3D-81FE-5C8A91F4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8E53E-D1FA-474A-A3E3-8FCCA225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36FA2-3A81-4323-BA2E-8362221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A1B28-7238-4A1A-BDAA-1009C1DA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85975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17E8D6-0181-406C-ADC7-902DAE6B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相似问题对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49D04-04CC-4290-B914-70AF3119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24050"/>
            <a:ext cx="228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DA9B4-860B-417E-9A5D-38DBC5EC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9792CA-53CA-4867-8CAF-040264A9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85975"/>
            <a:ext cx="196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0.8583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4902E-0F77-416F-9ED2-ED12A510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57450"/>
            <a:ext cx="1962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平均相似度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85FB44-7786-4717-BAC6-60E26C0D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2405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57AAEA-8025-403A-BC21-5B341636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019BE9-9D11-4B77-B436-10EFE883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85975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046E35-7E56-4693-9512-0A52C5C3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57450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重复簇数量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AD2D40-51F6-4678-B23D-B72F015B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24050"/>
            <a:ext cx="1809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E7F548-BC20-41A0-B5FD-05BD37DC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240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74DADC-07B8-427E-8B93-609D332F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85975"/>
            <a:ext cx="1485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72DCAD-A858-4DD8-92F3-2DA5256E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最大簇规模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9DFA4A-27DF-4B47-9C34-CEFE3854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4762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E5ED85-FBFC-4A97-ACE0-E372F109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6710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Cluster 28753859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37D591-E1E7-4E89-8277-20C9A189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419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Correlation and analytic function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Correlation function over analytic function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similarity = 0.8500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8A649D-3C28-4DBE-8367-9DBD4C84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4762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2D0FF0-6A98-4E1D-9AA2-16E22B70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6710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Cluster 67307641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66CCBE-618A-4A6B-A416-A5499600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90950"/>
            <a:ext cx="4419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join with lookup and groupby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join with lookup and group by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similarity = 0.8667</a:t>
            </a:r>
          </a:p>
        </p:txBody>
      </p:sp>
    </p:spTree>
    <p:extLst>
      <p:ext uri="{BB962C8B-B14F-4D97-AF65-F5344CB8AC3E}">
        <p14:creationId xmlns:p14="http://schemas.microsoft.com/office/powerpoint/2010/main" val="145169322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6F1B84-528A-4E78-AAB9-663D09A1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8BE758-0CB1-40E7-A616-07344874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001B1-4EE3-4191-898A-F001E069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11 Demo 演示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2E203-4ABB-49FC-956A-36BBB0D8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四条命令覆盖重复簇、关键词和问题 ID 查询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9AAEE-F21D-41AE-99B3-8BC0E5A2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演示命令选择当前结果中能稳定命中重复簇的样例。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F5164-B9F6-4014-B671-44A132BE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B0CD0-49AD-4E9E-9BF5-CFF09119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3738FD-11B4-4096-B196-2F676520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AB37C-405B-4A7F-A6DE-B7A1B6D2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193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9525">
            <a:solidFill>
              <a:srgbClr val="3D4B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EC7BB1-AE5B-4290-AC49-C2F89E44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81225"/>
            <a:ext cx="819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bash scripts/07_query_demo.sh --top-clusters --limit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C81B9-F50B-474C-86BC-03642F10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A"/>
          </a:solidFill>
          <a:ln xmlns:a="http://schemas.openxmlformats.org/drawingml/2006/main" w="9525">
            <a:solidFill>
              <a:srgbClr val="3D4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3FD88-A916-4A52-846F-EB9DF31D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62275"/>
            <a:ext cx="819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bash scripts/07_query_demo.sh --keyword "analytic function" --limit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ADC2C7-47AB-4B39-984A-9F0A6CB5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9525">
            <a:solidFill>
              <a:srgbClr val="3D4B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FB96F-787F-4A4D-97F6-B6DBAE6D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43325"/>
            <a:ext cx="819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bash scripts/07_query_demo.sh --keyword "group by" --limit 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6A23A-A600-42A2-B416-3088D20F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624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A"/>
          </a:solidFill>
          <a:ln xmlns:a="http://schemas.openxmlformats.org/drawingml/2006/main" w="9525">
            <a:solidFill>
              <a:srgbClr val="3D4B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99BF82-2616-4B15-8A22-C4D171B4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24375"/>
            <a:ext cx="819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bash scripts/07_query_demo.sh --question-id 28753859 --limit 10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BD437C-0F92-400C-97D2-ADE5CB73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47900"/>
            <a:ext cx="1333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319403-9F10-454C-A49E-B05BA8E3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812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输出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D0051B-1FA6-4CBB-AEFD-CD785FB0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05100"/>
            <a:ext cx="9906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原问题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cluster_id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cluster_size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代表问题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相似问题</a:t>
            </a:r>
          </a:p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similarity</a:t>
            </a:r>
          </a:p>
        </p:txBody>
      </p:sp>
    </p:spTree>
    <p:extLst>
      <p:ext uri="{BB962C8B-B14F-4D97-AF65-F5344CB8AC3E}">
        <p14:creationId xmlns:p14="http://schemas.microsoft.com/office/powerpoint/2010/main" val="157931794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8650AD-2ACB-4195-AB47-751037E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413E8-8B83-4FDD-B816-CF31FFC7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272136-8936-4F4A-9BC4-7F000065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12 资源与运行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1DE68-E3D9-40E0-AC13-A3A31F88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最终稳定参数与现场复核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1A13D-B78E-4DA5-97B4-804D9D88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实验以全量 152758 问题为输入，结果已导出到 HDFS output 目录。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1E742-0388-4293-BB23-4A756EF2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0A5C4B-D717-4882-9474-D7C14CEB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05F21-AD7C-4BFD-B9D3-E1A950F7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8F246-8DEA-469A-ADCB-ED96B4CF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238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93F9C-F0F6-4F09-878A-130E0392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71700"/>
            <a:ext cx="2895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Spark 参数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7216A-9552-4578-B7ED-9B6861B3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28956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driver memory: 3g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executor memory: 6g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executor cores: 4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num executors: 1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shuffle partitions: 96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98096B-C93D-4917-9E77-C58AA830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3238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264AA-7208-47A6-9E2E-90167D21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71700"/>
            <a:ext cx="2895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模型参数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9313DE-061A-444A-9D26-2B3E3C53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95550"/>
            <a:ext cx="28956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TOPIC_K: 50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MINHASH_TABLES: 1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LSH distance: 0.15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similarity: 0.85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CC iterations: 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E4900-5E27-4F24-B1CF-37A1F059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38350"/>
            <a:ext cx="3238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69A862-6C4A-4ED0-9BF5-FB4C656C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71700"/>
            <a:ext cx="2895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现场验证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9659C-184A-44F1-8999-6995BBA7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95550"/>
            <a:ext cx="28956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NameNode / ResourceManager 正常</a:t>
            </a:r>
          </a:p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2 个 DataNode 存活</a:t>
            </a:r>
          </a:p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2 个 NodeManager RUNNING</a:t>
            </a:r>
          </a:p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SparkPi 小内存重试成功</a:t>
            </a:r>
          </a:p>
          <a:p xmlns:a="http://schemas.openxmlformats.org/drawingml/2006/main">
            <a:pPr algn="l">
              <a:defRPr sz="120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Demo 命令已保存日志</a:t>
            </a:r>
          </a:p>
        </p:txBody>
      </p:sp>
    </p:spTree>
    <p:extLst>
      <p:ext uri="{BB962C8B-B14F-4D97-AF65-F5344CB8AC3E}">
        <p14:creationId xmlns:p14="http://schemas.microsoft.com/office/powerpoint/2010/main" val="117224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5265A3-9E72-4069-A105-28E79E15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6859D-31AB-4BDA-B9D3-5EED628E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78DCD-417D-4F7D-A9D1-D96C50F1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13 问题与解决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1502D-C7B3-46FE-BADC-40CC5D68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工程收尾中的关键取舍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2C7ED-153D-40A3-BD8F-9B297549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项目把稳定性、可解释性和课程演示可复现性放在优先位置。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44DF0-2D88-4E42-A3E0-46F30297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836D86-B633-474B-A6EE-5214905B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FEB85-F88D-4008-9DB2-D61004A2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203E6-3BCE-473A-ACF7-E0BD275A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09750"/>
            <a:ext cx="981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BE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96E17E-34B8-4A0C-8E48-6D97A2F7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43100"/>
            <a:ext cx="946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大 JSON 难并行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1A3791-206E-4BC6-8ADD-350A5ADA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66950"/>
            <a:ext cx="9467850" cy="-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先转 JSONL，再由 Spark 读入并写 Parquet。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05EE37-1A38-43CF-AB60-0A071B3B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981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3B78F4-D91E-4F9F-8CB6-9B30F047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86050"/>
            <a:ext cx="946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HTML/代码噪声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56507-15E2-4580-97AD-BEF360D5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9900"/>
            <a:ext cx="9467850" cy="-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清洗标签和链接，保留 SQL、错误码、技术 token。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FF7C5A-3927-4AF8-A287-99476E7B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95650"/>
            <a:ext cx="981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BE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3C76F4-82FD-414D-80D1-8341A6EB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29000"/>
            <a:ext cx="946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低阈值候选爆炸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644DD0-6C95-4CC0-AB9A-DC1566C5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9467850" cy="-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使用 bucket size 上限和 0.85 高置信阈值。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453C8-8435-49AB-88B0-E5B6CBAD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981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5A91CD-6A64-47AD-B441-C34C8454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946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GraphFrames 依赖复杂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C343A1-2F55-4030-8408-8D77FC77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95800"/>
            <a:ext cx="9467850" cy="-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使用 Spark DataFrame 迭代实现连通分量。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0EFA4F-2A13-4142-B440-06675282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9810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BE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01CD09-C945-46D8-AF3B-3B3C0192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14900"/>
            <a:ext cx="946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YARN 调度等待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EFABF2-56EB-4958-8CB2-03D96DF8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38750"/>
            <a:ext cx="9467850" cy="-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现场复核采用小内存 SparkPi，并保留完整诊断日志。</a:t>
            </a:r>
          </a:p>
        </p:txBody>
      </p:sp>
    </p:spTree>
    <p:extLst>
      <p:ext uri="{BB962C8B-B14F-4D97-AF65-F5344CB8AC3E}">
        <p14:creationId xmlns:p14="http://schemas.microsoft.com/office/powerpoint/2010/main" val="182145879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FE3D29-5E6A-42A1-A535-5BD3D873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5A94C-F425-4E9C-94C9-7F8D079D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CEDD0-24DB-42EF-B323-E48AF5DD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A9D8F"/>
                </a:solidFill>
                <a:latin typeface="Aptos"/>
                <a:ea typeface="Aptos"/>
                <a:cs typeface="Aptos"/>
              </a:rPr>
              <a:t>14 总结与改进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96291-A2F9-4086-9FD0-16E116E8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23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完成端到端大数据文本聚类链路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C8630-8828-4808-A80A-885C3B0B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695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项目结果可提交、可复核、可演示，同时保留了后续扩展方向。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E58765-63F2-48ED-9E70-934687CB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942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D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D1970-4410-49BF-A0EB-AA1FF9DF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361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StackOverflow Oracle 问答文本聚类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5700A-FBD9-4819-8822-F5991D63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515100"/>
            <a:ext cx="342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C5F4CB-82E7-4E28-94A2-07EC6B63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4F1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BDA2C6-2DB2-4B45-8CF8-63AB8AA9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280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完成内容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3A817-1896-43C2-AA35-EE30B77C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Hadoop/HDFS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Spark on YARN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EDA 与清洗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TF-IDF 主题聚类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MinHashLSH 去重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CLI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991C6-F31C-4583-BEFC-0723F075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E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9E1539-9C47-416B-9137-DCB6BF50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280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小组分工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C7789F-7C87-4760-B458-D7CFA824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5745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集群部署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数据处理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算法实现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结果导出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报告/PPT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现场演示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11DCA6-F764-4D7C-9A70-1B7C11F7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3143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6"/>
          </a:solidFill>
          <a:ln xmlns:a="http://schemas.openxmlformats.org/drawingml/2006/main" w="9525">
            <a:solidFill>
              <a:srgbClr val="D5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770389-8969-4D22-8519-27751367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80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12B"/>
                </a:solidFill>
                <a:latin typeface="Aptos"/>
                <a:ea typeface="Aptos"/>
                <a:cs typeface="Aptos"/>
              </a:rPr>
              <a:t>改进方向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A5A53-7FDA-427C-BC99-C6BF7162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57450"/>
            <a:ext cx="2800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加入 Sentence-BERT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构建人工评测集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比较 precision/recall/F1</a:t>
            </a:r>
          </a:p>
          <a:p xmlns:a="http://schemas.openxmlformats.org/drawingml/2006/main">
            <a:pPr algn="l">
              <a:defRPr sz="1275" b="0">
                <a:solidFill>
                  <a:srgbClr val="5D6B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B75"/>
                </a:solidFill>
                <a:latin typeface="Aptos"/>
                <a:ea typeface="Aptos"/>
                <a:cs typeface="Aptos"/>
              </a:rPr>
              <a:t>增加 Streamlit 页面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CC1DF9-7D95-407C-9EB5-BF8A173A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143500"/>
            <a:ext cx="171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8212B"/>
                </a:solidFill>
                <a:latin typeface="Aptos Display"/>
                <a:ea typeface="Aptos Display"/>
                <a:cs typeface="Aptos Display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4270420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2026-05-27T13:24:26.0070000Z</dcterms:created>
  <dcterms:modified xsi:type="dcterms:W3CDTF">2026-05-27T13:24:26.0070000Z</dcterms:modified>
</coreProperties>
</file>