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4583dbf92b4cce" /><Relationship Type="http://schemas.openxmlformats.org/officeDocument/2006/relationships/extended-properties" Target="/docProps/app.xml" Id="R4a48635e4bf94d37" /><Relationship Type="http://schemas.openxmlformats.org/officeDocument/2006/relationships/officeDocument" Target="/ppt/presentation.xml" Id="R61fdf2fe1f5342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4b51354237466a"/>
  </p:sldMasterIdLst>
  <p:notesMasterIdLst>
    <p:notesMasterId xmlns:r="http://schemas.openxmlformats.org/officeDocument/2006/relationships" r:id="R8579eccb3eb141bc"/>
  </p:notesMasterIdLst>
  <p:sldIdLst>
    <p:sldId xmlns:r="http://schemas.openxmlformats.org/officeDocument/2006/relationships" id="256" r:id="Rd9b073d694bd458f"/>
    <p:sldId xmlns:r="http://schemas.openxmlformats.org/officeDocument/2006/relationships" id="257" r:id="R4c3faec66a4a4d31"/>
    <p:sldId xmlns:r="http://schemas.openxmlformats.org/officeDocument/2006/relationships" id="258" r:id="Rc01de6201ac5490f"/>
    <p:sldId xmlns:r="http://schemas.openxmlformats.org/officeDocument/2006/relationships" id="259" r:id="Reb41e6fab2da433b"/>
    <p:sldId xmlns:r="http://schemas.openxmlformats.org/officeDocument/2006/relationships" id="260" r:id="R0cdd27188f344110"/>
    <p:sldId xmlns:r="http://schemas.openxmlformats.org/officeDocument/2006/relationships" id="261" r:id="Rd883636ad5344238"/>
    <p:sldId xmlns:r="http://schemas.openxmlformats.org/officeDocument/2006/relationships" id="262" r:id="R530dc0fe10e84ef1"/>
    <p:sldId xmlns:r="http://schemas.openxmlformats.org/officeDocument/2006/relationships" id="263" r:id="R27df80b2a3dd4f16"/>
    <p:sldId xmlns:r="http://schemas.openxmlformats.org/officeDocument/2006/relationships" id="264" r:id="R0d24b8bfd9fb4f5b"/>
    <p:sldId xmlns:r="http://schemas.openxmlformats.org/officeDocument/2006/relationships" id="265" r:id="Red9e18e19dc74c63"/>
    <p:sldId xmlns:r="http://schemas.openxmlformats.org/officeDocument/2006/relationships" id="266" r:id="R11c52757cbe342a4"/>
    <p:sldId xmlns:r="http://schemas.openxmlformats.org/officeDocument/2006/relationships" id="267" r:id="R274ee3b1c9d247b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f248671c964727" /><Relationship Type="http://schemas.openxmlformats.org/officeDocument/2006/relationships/slideMaster" Target="/ppt/slideMasters/slideMaster1.xml" Id="R684b51354237466a" /><Relationship Type="http://schemas.openxmlformats.org/officeDocument/2006/relationships/notesMaster" Target="/ppt/notesMasters/notesMaster1.xml" Id="R8579eccb3eb141bc" /><Relationship Type="http://schemas.openxmlformats.org/officeDocument/2006/relationships/presProps" Target="/ppt/presProps.xml" Id="R536f79f455a94e42" /><Relationship Type="http://schemas.openxmlformats.org/officeDocument/2006/relationships/viewProps" Target="/ppt/viewProps.xml" Id="R16d4b4ef877c4255" /><Relationship Type="http://schemas.openxmlformats.org/officeDocument/2006/relationships/tableStyles" Target="/ppt/tableStyles.xml" Id="Rdc8a7277f0984439" /><Relationship Type="http://schemas.openxmlformats.org/officeDocument/2006/relationships/slide" Target="/ppt/slides/slide1.xml" Id="Rd9b073d694bd458f" /><Relationship Type="http://schemas.openxmlformats.org/officeDocument/2006/relationships/slide" Target="/ppt/slides/slide2.xml" Id="R4c3faec66a4a4d31" /><Relationship Type="http://schemas.openxmlformats.org/officeDocument/2006/relationships/slide" Target="/ppt/slides/slide3.xml" Id="Rc01de6201ac5490f" /><Relationship Type="http://schemas.openxmlformats.org/officeDocument/2006/relationships/slide" Target="/ppt/slides/slide4.xml" Id="Reb41e6fab2da433b" /><Relationship Type="http://schemas.openxmlformats.org/officeDocument/2006/relationships/slide" Target="/ppt/slides/slide5.xml" Id="R0cdd27188f344110" /><Relationship Type="http://schemas.openxmlformats.org/officeDocument/2006/relationships/slide" Target="/ppt/slides/slide6.xml" Id="Rd883636ad5344238" /><Relationship Type="http://schemas.openxmlformats.org/officeDocument/2006/relationships/slide" Target="/ppt/slides/slide7.xml" Id="R530dc0fe10e84ef1" /><Relationship Type="http://schemas.openxmlformats.org/officeDocument/2006/relationships/slide" Target="/ppt/slides/slide8.xml" Id="R27df80b2a3dd4f16" /><Relationship Type="http://schemas.openxmlformats.org/officeDocument/2006/relationships/slide" Target="/ppt/slides/slide9.xml" Id="R0d24b8bfd9fb4f5b" /><Relationship Type="http://schemas.openxmlformats.org/officeDocument/2006/relationships/slide" Target="/ppt/slides/slide10.xml" Id="Red9e18e19dc74c63" /><Relationship Type="http://schemas.openxmlformats.org/officeDocument/2006/relationships/slide" Target="/ppt/slides/slide11.xml" Id="R11c52757cbe342a4" /><Relationship Type="http://schemas.openxmlformats.org/officeDocument/2006/relationships/slide" Target="/ppt/slides/slide12.xml" Id="R274ee3b1c9d2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7b1afe6c8047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272213c4fc4370" /><Relationship Type="http://schemas.openxmlformats.org/officeDocument/2006/relationships/notesMaster" Target="/ppt/notesMasters/notesMaster1.xml" Id="Rfc3d63fba9b543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d8b870b336443b" /><Relationship Type="http://schemas.openxmlformats.org/officeDocument/2006/relationships/notesMaster" Target="/ppt/notesMasters/notesMaster1.xml" Id="R3005db8ed94b49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b378c26acb4f17" /><Relationship Type="http://schemas.openxmlformats.org/officeDocument/2006/relationships/notesMaster" Target="/ppt/notesMasters/notesMaster1.xml" Id="R5991da4a9e1d41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84ded7ac5d4453" /><Relationship Type="http://schemas.openxmlformats.org/officeDocument/2006/relationships/notesMaster" Target="/ppt/notesMasters/notesMaster1.xml" Id="R9276a27fb68b40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04625dc894f0a" /><Relationship Type="http://schemas.openxmlformats.org/officeDocument/2006/relationships/notesMaster" Target="/ppt/notesMasters/notesMaster1.xml" Id="R8396c856dbb14e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d8f2ab3c1874ec1" /><Relationship Type="http://schemas.openxmlformats.org/officeDocument/2006/relationships/notesMaster" Target="/ppt/notesMasters/notesMaster1.xml" Id="R8968e3a4d4e44c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e83df498794bdd" /><Relationship Type="http://schemas.openxmlformats.org/officeDocument/2006/relationships/notesMaster" Target="/ppt/notesMasters/notesMaster1.xml" Id="Rba00d18a0fd44b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6c666d809b4ea4" /><Relationship Type="http://schemas.openxmlformats.org/officeDocument/2006/relationships/notesMaster" Target="/ppt/notesMasters/notesMaster1.xml" Id="R4ffc047a3e5045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a5156bfc4d4487" /><Relationship Type="http://schemas.openxmlformats.org/officeDocument/2006/relationships/notesMaster" Target="/ppt/notesMasters/notesMaster1.xml" Id="R0492002c8d804b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ed9aea7a904c26" /><Relationship Type="http://schemas.openxmlformats.org/officeDocument/2006/relationships/notesMaster" Target="/ppt/notesMasters/notesMaster1.xml" Id="Rc2a72ff66f534f0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6156302a336449b" /><Relationship Type="http://schemas.openxmlformats.org/officeDocument/2006/relationships/notesMaster" Target="/ppt/notesMasters/notesMaster1.xml" Id="R18d4d0bff89a43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c829632be54d03" /><Relationship Type="http://schemas.openxmlformats.org/officeDocument/2006/relationships/notesMaster" Target="/ppt/notesMasters/notesMaster1.xml" Id="R3aa426c672884b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1924258a9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347633ceb547ca" /><Relationship Type="http://schemas.openxmlformats.org/officeDocument/2006/relationships/slideLayout" Target="/ppt/slideLayouts/slideLayout1.xml" Id="Re4b097dd1cf248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097dd1cf248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8f18b21ce4912" /><Relationship Type="http://schemas.openxmlformats.org/officeDocument/2006/relationships/notesSlide" Target="/ppt/notesSlides/notesSlide1.xml" Id="Rcde248515fc24c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95aab8add452b" /><Relationship Type="http://schemas.openxmlformats.org/officeDocument/2006/relationships/notesSlide" Target="/ppt/notesSlides/notesSlide2.xml" Id="Re7050536cd8e4f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882d4c8c14094" /><Relationship Type="http://schemas.openxmlformats.org/officeDocument/2006/relationships/notesSlide" Target="/ppt/notesSlides/notesSlide3.xml" Id="R4209dab8dea043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96fec335c482a" /><Relationship Type="http://schemas.openxmlformats.org/officeDocument/2006/relationships/notesSlide" Target="/ppt/notesSlides/notesSlide4.xml" Id="Rccb943e180cb40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35f899d4ac411f" /><Relationship Type="http://schemas.openxmlformats.org/officeDocument/2006/relationships/notesSlide" Target="/ppt/notesSlides/notesSlide5.xml" Id="R7dd52281144645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51e8395e344c2" /><Relationship Type="http://schemas.openxmlformats.org/officeDocument/2006/relationships/notesSlide" Target="/ppt/notesSlides/notesSlide6.xml" Id="R8d5a9d3d9c1845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cce13c4a240e9" /><Relationship Type="http://schemas.openxmlformats.org/officeDocument/2006/relationships/notesSlide" Target="/ppt/notesSlides/notesSlide7.xml" Id="Rd3bb879f984b43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6350e34ed4669" /><Relationship Type="http://schemas.openxmlformats.org/officeDocument/2006/relationships/notesSlide" Target="/ppt/notesSlides/notesSlide8.xml" Id="R9e45d7e555174a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3d90245494972" /><Relationship Type="http://schemas.openxmlformats.org/officeDocument/2006/relationships/notesSlide" Target="/ppt/notesSlides/notesSlide9.xml" Id="Rb721609b98af43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2e5daa4d940f9" /><Relationship Type="http://schemas.openxmlformats.org/officeDocument/2006/relationships/notesSlide" Target="/ppt/notesSlides/notesSlide10.xml" Id="R12ef7220f7b447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763392fc943f4" /><Relationship Type="http://schemas.openxmlformats.org/officeDocument/2006/relationships/notesSlide" Target="/ppt/notesSlides/notesSlide11.xml" Id="R654ac75123404e0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d5a9494d647b4" /><Relationship Type="http://schemas.openxmlformats.org/officeDocument/2006/relationships/notesSlide" Target="/ppt/notesSlides/notesSlide12.xml" Id="Rfc80b29748334d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D088E-9AED-4A7F-A449-8D8432FF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CF18D-E2EF-403B-A238-108B8B48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运维文本聚类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4D722-B099-4DAC-87E8-58B24A4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76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D5E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9D5E3"/>
                </a:solidFill>
                <a:latin typeface="Aptos"/>
                <a:ea typeface="Aptos"/>
                <a:cs typeface="Aptos"/>
              </a:rPr>
              <a:t>基于 Hadoop + Spark 的 StackOverflow Oracle 问答聚类与去重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8ACD8-A84F-4929-B81E-085746BE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609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3FE9E-5843-475A-A84E-01035BC3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6858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从真实嵌套 JSON 数据入湖，到 Spark 文本特征工程、主题聚类、MinHashLSH 相似问题发现和静态 Demo 展示。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4E893-2CB8-488D-8528-F96374E4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47274-CE59-4D49-AA05-64EE502B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DB868-FF97-47F0-A305-4A0578A0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862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152,758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0B09E-E567-4B19-BFD5-73BFF4C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Oracle 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836E9-CC3A-4435-B685-243520EF0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StackExchange Data Dump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45B96F-06B1-4F39-B75E-9779D31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2E897-80FC-4D6F-B79F-6E4FC991E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243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F7AC6-825A-4FFB-8BE9-D014E1E8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862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908,089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BED26-0623-48DC-B847-57E128264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767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文本对象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D114C-3638-43AE-A632-CA679807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24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问题、回答、评论合计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53539-59CD-429F-8AFC-28D51C78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419A47-84A8-4ACA-8438-C2758A0B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628B9-B5C6-421F-A33C-6E0D9BD9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862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FFB930-1C20-4FCA-BFC5-EA0B875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767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展示重复簇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29FAA8-6645-4FBB-95B8-ACBE27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24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0.65/ht2/bucket200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C387A1-9675-4051-8357-278C3652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7578C-95C2-4575-839C-5D6B2899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243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8A6504-ED3D-41CA-989B-94E31FB2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86225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YARN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C875D4-FC51-40C0-9A66-B3829140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2171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真实集群复核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920280-BDFE-4333-A92C-DA5D961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24400"/>
            <a:ext cx="2171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Hadoop 3.3.6 / Spark 3.5.1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39740-E7AB-49DD-941A-5A81DBFC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62650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答辩版 | v1 优化后结果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A5195-FB01-4DB1-9146-CC4A1F51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数据和指标来自 output/、docs/verification/ 与本次 YARN 压力测试记录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80721-32CE-4149-8B92-E47E5F77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81262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498FE6-1A53-4397-8237-44F77E3A3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76F1E-A7E4-4B1C-8EE0-64F4CE93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1AF9A-6E9A-45F9-97EA-147A93FE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数据规模和结构决定了它不是简单的单机文本分类。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497B3-3A8F-4947-A02C-7CE41BB0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Oracle Database 标签下的 StackOverflow 问答，包含问题、回答与两类评论。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F4D9D-C278-40FC-9B6B-717B4532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B52D8-C7EA-42B3-A8F2-80E0776D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2C31E-8C9F-439C-8DE4-11F4CA9C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152,758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8CEAC9-9B02-45E2-AB9C-8B78075F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F2A43-9704-4070-8D35-18689CE0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建模主对象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4B3664-5343-4CB4-970C-170A8A91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AAC515-F4FC-4A90-9B27-629462D7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E5472-D070-4002-A7A9-7B6A8ADC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5267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203,393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0D549B-2573-4044-AB32-BC367623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回答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9CB68-8AF6-4318-BF4C-37C0EB3A7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908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补充技术上下文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CF64E5-1039-4092-BC20-353816F9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4E44FE-2D40-4087-A749-9ABC0A30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ABC13-2DB2-42FC-82A7-6F9BF3D0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5267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331,642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F66BD-5E98-44E8-BDF2-234FC66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432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问题评论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CF472A-6E3F-4BAB-A5EA-075BAC6B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908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复现环境与报错补充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B3CF4-C254-43B4-BC07-5C02619F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880582-1CAD-4B22-8997-4751E201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5EE87-9AE1-4C02-BD82-885EFA9F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5267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220,296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6099E1-5FC2-4227-8C02-3F3E19A4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432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回答评论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A6A5A-DFCD-421A-8514-EFD52603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9085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额外解释与讨论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1BF379-6D61-408E-932D-1F687839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关键 EDA 指标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5F29D-592E-40F4-88C0-91A2AED8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平均回答数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F6ABE5-337C-4CC4-B83F-EF3ECEB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05300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296B3C-7706-4E3F-98C0-215A80FF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05300"/>
            <a:ext cx="104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543B8C-0791-4AB5-ADC4-4ADAA1D3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2481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1.331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9DE620-19E3-4632-8F61-3541AEB2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67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最大回答数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361D6B-2D43-45C9-82C7-B189786A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24400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384544-B401-40A3-A1D8-B779723F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24400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82162D-D741-4A73-8D16-AD368B9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6672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046E67-C53B-4323-8E43-BA76A308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无回答问题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E687D9-C24F-4E79-ACF8-EFBFE711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143500"/>
            <a:ext cx="2667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1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A515AA-1E22-44CE-9705-5EC8703B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143500"/>
            <a:ext cx="5238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50D009-91D3-49DA-A466-B5BB1292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863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29,937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2A7CB5-A1A1-4922-8C05-C018204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095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2668FB-14B5-4300-9DB5-5A43BA2D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38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原始 JSON 难点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FDC99F-8DC9-4B8C-BDA4-D087ECBC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3333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大数组结构不利于 Spark 直接并行读取；HTML、代码块、标签、评论混在一起，需要先转 JSONL 并清洗。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120CC6-3AFE-4C69-B983-B267CC610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output/validation/raw_data_validation.json 与 docs/final_effect_and_presentation_guide.md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554B2F-D6A5-4A3A-8881-9A224D38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8912033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A99762-F8F5-4A3D-9E2A-92CBF002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55599-EE16-42D1-877D-8E2194ED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A300E-9A9D-46C3-998D-A993EBBE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系统覆盖了从数据入湖到结果展示的完整大数据链路。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AA6D1B-4FC8-4306-99A4-DF09C92E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HDFS 负责存储，YARN 负责调度，Spark 负责分布式文本处理和建模。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AD87B-2152-4694-9A04-482FF7F4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57AD1-2CD1-4908-92C2-7F11F4EF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43BF0-416F-4C02-B2E7-616230D5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560231-A042-49E0-BB04-BBFEDDAB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原始嵌套数据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5240F3-2D0D-4760-A5AC-A67079B1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289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290879-6CC2-4C7D-B58A-BF1CB6CA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771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9CAF92-6003-42BD-9E8E-DA95CB36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812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1CA3F-B8D3-41F4-AA28-A6CCBAE2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3812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8B929D-47FF-4EC1-BABD-60C8B4C4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33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JSONL / HDFS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17DE62-1880-4CA2-8C94-BD9D2201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19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可并行读取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A055C6-5178-4707-A438-6308C10E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289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59B99-D07F-4AC9-9B6E-A6779DD3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71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B6F17-C460-4771-811D-CC223256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006EE-9399-4815-8CCB-9E71A023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812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9C87EB-CF36-4BAC-8E90-034D4FF8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533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Parquet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619100-31E8-4D1A-A5A7-FF5A29F2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19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清洗后列式存储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E8215A-4B5A-4A1A-894B-3845FB06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289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0C6DF-492F-43A7-B1C0-0397896E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71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8323F4-D909-47AD-B7E3-B393516F0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3E67A-F7A4-4CDC-B69B-8998666A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7AAE20-AB60-46AE-B86C-DCEFEBB9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33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Features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536EC-B5A4-4964-AE9D-6C0AF941A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19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TF-IDF / binary TF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E15954-B796-412B-B4CE-C3DED064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289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0F30D-0D5C-4218-8932-A3656B31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71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ECD97-CB77-448A-B763-CBAD3AF4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EF70E4-601E-4111-B4C3-E106AEE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9A5637-B8CC-44A4-B670-4687734F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33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083B7-3215-40CB-94CC-1B07ED47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19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KMeans + MinHashLSH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A8D680-622F-4B94-AAB7-0882B11E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289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75291-A19C-44CA-88E2-C4FA7323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717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1A90D-BEB7-4540-ACEF-68C07FA1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333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A170C-6701-4AC0-BD59-D6CEE9C5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33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4848ED-BAAA-4D5D-BBD8-C80618D4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336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8E01E8-31D3-4659-96EB-B8FE6641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194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样例、查询、解释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F5E5D5-5CAC-4BF5-959F-530DCF61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962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F6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9ABDB7-193D-436C-B624-7253A698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集群环境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72BB9E-A062-40B1-87F4-9EAEE6F9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053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master 10.176.62.239 | worker1 10.176.62.240 | worker2 10.176.62.241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189D39-D885-4179-8288-11AE9F53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291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Hadoop 3.3.6   Spark 3.5.1   OpenJDK 1.8.0_412   Spark on YARN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560066-F9D5-4DDF-B43E-5FC98485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运维文本聚类项目实施方案.md 与 docs/verification/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CDBD29-C9BD-4195-A979-B7401C07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72589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B6C2D-E733-45DD-B215-479916B0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5B082-88A9-4A71-A1BA-DBB38D7F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TEXT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6BE99-86F7-4607-8DAE-8FEAB1E9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预处理把运维语义从 HTML 噪声中抽出来。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2FE70-6718-4E2C-88D5-550F62CC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构造文档时有意提高标题、标签和高分回答权重，让相似问题更容易被发现。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9C61B-5E4A-4CF1-A1AB-9E21FB65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CC334-22D5-4EFB-83AA-7ABB18F4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EB05F-BE18-4737-963E-9A420357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HTML 清洗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651C1-9C7F-4B90-BCBA-CA21D8EB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去标签、保留代码提示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1FB63-C39E-4A78-8FCD-AD09D9FE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CC9C7-A396-4306-9B34-651F79A5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D564F-86E9-4E01-8B6C-0574A32C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BCECA-D3F6-4E26-9C1D-C36DA889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66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BABB3C-9F3D-4C5A-B508-F5BFF3DE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文档构造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88AC6-B33F-4DAC-A44D-FBCF4627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0510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标题x3 正文x2 标签+回答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36B7D-B2AF-4DA0-9017-21F7DEE8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051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A28CF-0F20-4DED-BB89-5AC112C7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47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DCDE3-ADEA-4F88-B5E4-CF4D2947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669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7EC715-3CE8-4A68-A28F-9D1D3D12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669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37E417-6F7C-47ED-85D6-A60CBF18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19350"/>
            <a:ext cx="1447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分词过滤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74C41-CBF8-4E1F-B3E9-44438DAE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1485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保留错误码、语言名、版本号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77BEE2-4654-46DE-85FD-4D236BA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051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F526C5-C1DB-46CA-9106-0954359B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F52B7-7771-4147-B960-790114D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60B822-FA66-492B-BBE3-9AB71345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238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058DBF-A79A-40D6-AABA-C752836A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193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两套特征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52AA7A-D763-4BDC-A247-16431FC1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05100"/>
            <a:ext cx="2152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TF-IDF 做主题；binary TF 做 LSH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32DBD2-1107-4F49-8C14-0167A9A8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805B4F-EB48-4596-B057-EE307EC9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433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RegexTokenizer 保留 ORA-00904、oracle11g、pl/sql 等技术 token。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7E4A7-0C12-40D9-BF62-C4DE8E2A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69C849-D62B-4FD3-9467-9F690A8A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StopWordsRemover 去掉英文停用词和领域泛词，降低“database / query”等通用词干扰。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32C66F-C73B-4D6F-B5B3-30BE4331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3EE146-91EE-4D1C-BF23-E21ADD2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885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Normalizer 让主题聚类向量可比较；binary HashingTF 更适合 MinHashLSH 的集合相似度。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925B3A-6B01-4A5F-9BB1-AA333D23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README.md 与 docs/完整实验报告.md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407D66-2953-4252-B3BB-2DF785EF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19641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73CDB-FB2D-4148-8F43-B34DACA3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C0C992-2465-4CF8-A406-3285B000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TOPIC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76B39-4B6B-4D21-8E55-F0609828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主题聚类先给 Oracle 问答建立可解释的主题地图。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9D099-3FF9-4DF5-8244-A47CFFB1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它不是最终去重算法，但能帮助理解问题分布，并支撑 Demo 的主题浏览。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0CB4C-EDDB-4CF5-BB70-9AA441AB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854D9-C535-449C-B128-8BBB7CD5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4A0CA-EBA7-4224-8E28-889D7673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98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k=50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55F3CF-6C98-41C7-A37D-D41FFF0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BisectingKMeans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270F4-C3D8-490F-B515-489D478D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适合较大文本集合的层次二分聚类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65C10-16FB-49D9-B1DC-739CDF71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6FBC4-0913-44C6-9700-88ED6D0C7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479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4D43B-7A8D-4B31-9E6F-58FC90F7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098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TF-IDF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72E4D-32DC-433B-9AA9-172C8C5E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00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主题向量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98F9A-462D-4266-BBB6-E7781A0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48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HashingTF + IDF + Normalizer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5C296-A7D5-4766-A2F2-B0F14ACF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29BC09-4A38-44C9-9FDB-6A4C9CF7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479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9E151B-17AA-47D5-B4AB-605475160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98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Top terms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E2D2E1-CB5F-4B7A-AA9A-644209F6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簇解释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9D164C-0B32-420C-BF76-078552E9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48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用高频关键词解释每类问题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146C0A-7721-4F2E-900E-106F2F8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000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F6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14E57E-E845-4C5D-8366-DE24CA74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86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输出字段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1F8328-F9EC-4724-A70C-88365969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09850"/>
            <a:ext cx="1428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rPr>
              <a:t>cluster_id</a:t>
            </a:r>
          </a:p>
          <a:p xmlns:a="http://schemas.openxmlformats.org/drawingml/2006/main">
            <a:pPr algn="l">
              <a:def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rPr>
              <a:t>doc_id</a:t>
            </a:r>
          </a:p>
          <a:p xmlns:a="http://schemas.openxmlformats.org/drawingml/2006/main">
            <a:pPr algn="l">
              <a:def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rPr>
              <a:t>title</a:t>
            </a:r>
          </a:p>
          <a:p xmlns:a="http://schemas.openxmlformats.org/drawingml/2006/main">
            <a:pPr algn="l">
              <a:def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rPr>
              <a:t>score</a:t>
            </a:r>
          </a:p>
          <a:p xmlns:a="http://schemas.openxmlformats.org/drawingml/2006/main">
            <a:pPr algn="l">
              <a:def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rPr>
              <a:t>tags</a:t>
            </a:r>
          </a:p>
          <a:p xmlns:a="http://schemas.openxmlformats.org/drawingml/2006/main">
            <a:pPr algn="l">
              <a:def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>
                <a:solidFill>
                  <a:srgbClr val="5A6370"/>
                </a:solidFill>
                <a:latin typeface="Courier New"/>
                <a:ea typeface="Courier New"/>
                <a:cs typeface="Courier New"/>
              </a:rPr>
              <a:t>cluster_top_terms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305BA-B925-43FD-88F2-38B6D2F1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58CDD-5F85-4A38-8024-FA27738D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主题聚类回答“这些 Oracle 问题大致分布在哪些领域”。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916B0-CF8A-4D09-A9E6-360137E2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C2C175-EC0C-42FE-A630-54F21269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291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LSH 去重回答“哪些问题本质上可能是重复或高度相似”。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8E032E-7EF9-45E7-910B-C4D043E0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67F7A0-ABAE-4EF5-B2C2-21680C54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两者分工明确：一个负责宏观理解，一个负责候选去重。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F55F2-F700-4D8A-98BB-C4E1A56B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src/cluster_topics.py 与 docs/PPT大纲.md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00E6B3-A794-481E-BCEB-ED10036D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952348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12E088-F25C-48CA-BD92-49F5ECA4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8A9598-714A-4E05-98B8-1A7B634EF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DEDUP ALGORITHM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29829-795D-48D8-904A-B32228AA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重复问题发现从 pair similarity 转成 connected components。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4728C-27F9-4D5A-ACF4-DF9D0FF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MinHashLSH 负责生成候选边，Jaccard 二次校验负责守住相似度口径。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A876E-C1F0-42FD-8E94-23CE22D9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795A3-1DAA-4339-9EB2-3A19336C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2AE4A-EF67-46CC-8E7B-B408357A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binary TF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5A6BC3-2BDB-4629-9285-C180AB3C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问题 token 集合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854B7A-E55E-4BDA-B016-C672FCA5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289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D3776-53D9-4305-9A84-AF8BC7A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FEE83-DA14-4A04-8884-551D4858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8FF6A-0353-4E4A-A5BD-35009825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EA1C76-0E12-4300-A654-172B0EAE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241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MinHashLSH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3E06D-17BD-4F3D-9CF6-D7F7C542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approx 或 bucket 候选生成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CA73C-3489-4AC7-8448-3E9F87E3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289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0F031-B134-42BF-AE26-F6D96F4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A76459-B237-40A8-ABA1-4F98837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910474-3519-42B8-BE84-18F648F6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717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46979-BC4F-48E3-9AE5-FD2C3082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Jaccard filter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7DE4E-9A0E-4A4A-A3DC-EEDFCFD4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distance / similarity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199B69-EA57-488B-8626-36D41B24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7E6C4-43AB-46B0-95D7-FF075046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717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3C8"/>
          </a:solidFill>
          <a:ln xmlns:a="http://schemas.openxmlformats.org/drawingml/2006/main" w="0">
            <a:solidFill>
              <a:srgbClr val="D8D3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DA770-244C-4B9C-AF4C-20575931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DA5110-20E0-42CE-AB12-CAD9CE4F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717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0D6182-B639-4FE3-937B-5C85BA68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Connected Components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941E16-9B97-49FC-9B29-1EEBF793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985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相似边合并成重复簇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812B24-9934-4BF4-8EBF-995DD24A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476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4C5047-87B9-44E5-8F66-61402576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4457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默认平衡配置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similarity &gt;= 0.75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jaccard_distance &lt;= 0.25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num_hash_tables = 4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join_strategy = approx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1B47CE-6845-4156-A84B-E7B455AC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24300"/>
            <a:ext cx="4762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DE4578-7B18-4628-BEEB-1147735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4457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答辩展示配置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similarity &gt;= 0.65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jaccard_distance &lt;= 0.35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num_hash_tables = 2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join_strategy = bucket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3AA2CB-09F4-48D9-A96F-485AE04B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src/cluster_lsh.py、src/connected_components.py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C0721-0A96-4D02-A5E1-12AF09B0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809318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4102D5-A8A5-4CFE-84AC-406E4607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A759A-FFB5-4D64-B680-4125013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75A90-651D-4696-8973-99DACDC3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展示配置选择 0.65：适合现场说明，而不是伪造最优 F1。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3CB8B-0E79-4ACB-92DA-23E3E7C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没有人工标签时，只能比较候选规模、平均相似度、运行成本和可解释性。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7D0E0-645D-498F-953F-ED78752E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01F6E-8123-4C67-BB83-EF1B7C63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运行配置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D5491-FE71-4E51-ACB5-5228097D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764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58BDBC-D4C6-4146-BF81-31EA12AC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阈值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8E5F8-D419-474C-869A-AE0D2F09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764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56353-58EB-4762-83E0-E5F6C01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候选对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51DBE-D871-4558-9A52-9A43731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2DF8D1-64F0-400B-ABE1-D6F9A7D4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输出对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A80E6F-9388-4E5F-B0C5-5F0D0959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5293B-7CBE-4CCC-B65B-63214F86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重复簇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5ACA0-88DA-41D8-8497-24C66F37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764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9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415C9B-D351-4FD0-A97D-8B3E4C1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907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耗时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E87E7-E8CE-4A16-8670-E410192A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06479C-8D1D-4B0F-8718-CECB45FC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yarn_sim065_ht2_bucket200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E2A67B-A629-4D70-BACE-AC58C59E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908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A63FF-9D8F-4435-914B-D01F04D8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0.65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B9B176-3E8D-441B-B6A1-F44FDA13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78686F-32F0-4AA3-966C-96576DF9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2,227,681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0E3FBE-553A-452C-8E9F-C5901B0A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908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C8AFE-32B0-4017-8CA6-A5B7E562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2D9B4-58A2-4EE3-AA1A-3616811F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2731C3-4CEF-4340-80DE-2908FB7B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051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7CCF8-73CC-43A3-BB71-66CBC2F2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759BE2-9766-484F-86A2-05C8565F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051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1,665s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DBFCD7-0161-4198-BC02-DC68A479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9203AA-ED17-4FBE-AD44-AD7CD3E5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yarn_sim085_ht4_bucket300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E41553-9AAF-4E8C-AC08-2254994A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051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91BC7F-2BB9-4805-B187-ED55A809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0.85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1A4C47-66A4-45E8-86A9-F863E397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051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A8B7D9-91EA-4823-B1DA-99F750ED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219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6,858,115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EDF66F-D3EF-4094-89E9-98AF40D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270515-5CBD-4575-9E39-50F0AAA3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CD269-68D1-41D5-A9DB-723CFBE9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4DA471-62BA-4559-AA6C-E4BAEB48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3EB1B4-2765-4FAA-914D-CD38929C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C835BC-A41E-49E8-AD9C-F52B74D1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194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2,603s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EF307D-3083-4318-8DA8-5D5E554E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5F3F89-86BD-401A-89E1-BDACE8C7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yarn_sim075_ht4_approx300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3B6C63-A3E6-49DD-89C3-02FAE76E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C499E5C-9C9C-4422-90CB-A1BB251B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0.75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4FA7801-311B-426E-9F0D-E3A31E4F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403CB7-75EB-4305-B6D8-41E62273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733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未完成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E7C302E-B051-438F-AE96-F00E387FE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6123A3-1070-4306-A9BB-03911EFA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未完成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3174CB-A9BA-44AB-B801-E80E8449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BD2B12C-9F80-4B5F-BDBD-5E7B6A9B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338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未完成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B5B26C-AD33-4C4B-9DE4-B219754B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19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D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5AB5C2-2104-4736-90C8-C6D32FC3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338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约29分钟停止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F47BC8-55A1-4C10-8FA1-DA491CD2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F6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94F8F1C-1F2B-4396-A052-EF2A2D67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6C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36C2F"/>
                </a:solidFill>
                <a:latin typeface="Aptos"/>
                <a:ea typeface="Aptos"/>
                <a:cs typeface="Aptos"/>
              </a:rPr>
              <a:t>答辩口径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F86E40-48AB-4C04-ABC4-91867CF6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196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0.65 结果用于现场展示；0.85 结果说明高置信取舍；approx 压力测试说明工程资源边界。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A49519-D928-453A-90D1-C2A4C938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output/evaluation/parameter_sweep_summary.csv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B5D665-EFBC-4384-AE8E-8FF37B14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68404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2D551A-4840-4B01-A87D-4C38890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08B47-35F0-49FA-BCD7-5235B765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176F-F240-49BC-BBF0-A04F8BCE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样例簇能直观看出标题语义和技术关键词的重合。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450A6-9F88-40CC-AFB1-EF73CFEF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这些样例来自高召回 YARN 输出，并同步到了顶层 output CSV，方便评审直接打开。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11A5A-9E42-48B5-BDB1-70A433D8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10266B-A617-4FFC-B82C-0BDD08B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F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8F63"/>
                </a:solidFill>
                <a:latin typeface="Aptos"/>
                <a:ea typeface="Aptos"/>
                <a:cs typeface="Aptos"/>
              </a:rPr>
              <a:t>0.8667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BF8B5-D03C-4D72-B709-8472FCD2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288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join with lookup and groupby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7576A5-F60A-4C30-8579-74BBB3D7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574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43507-D380-4876-AC27-934DB096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288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join with lookup and group by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B5425C-1FDB-44FC-8D2A-B1043A97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194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7B3451-B5B9-4B82-94EA-FADEC754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F6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8F63"/>
                </a:solidFill>
                <a:latin typeface="Aptos"/>
                <a:ea typeface="Aptos"/>
                <a:cs typeface="Aptos"/>
              </a:rPr>
              <a:t>0.8500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626C5-5036-4983-AD94-166E5563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9337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Correlation and analytic function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1AA5F-1A93-4EDB-99F5-7FE1683D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622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0645D9-FB12-43A9-8501-2100DD13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Correlation function over analytic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53296-36AC-479A-90D0-9208DD16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242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12BDE9-3963-47CB-B767-BE4D657D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0.8261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4B45C-411E-438D-9327-5EEE7221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6385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trim last three characters in selected column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EB6D74-CA8D-4132-ABD1-2169BB92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6671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0D507-85E7-4AEC-9593-7F45226F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385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trim last two characters in selected column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BFD57-28F6-4E6F-A05D-82B4DD91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291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B82E88-FB47-4AE0-A89C-5CA6F69EB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0.7742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0B24F-4426-4166-B1CE-135B327E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434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JDBC Thin Oracle 11g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9C660-2211-4566-B058-8457ADEC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37197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A1B6A7-1E61-44A2-B5E6-6FE46A10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43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JDBC Thin in Oracle 11g with java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B63B85-4BC8-4580-836A-D469F2D2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27801D-4F69-4786-88D0-038F3C81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79A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79A2B"/>
                </a:solidFill>
                <a:latin typeface="Aptos"/>
                <a:ea typeface="Aptos"/>
                <a:cs typeface="Aptos"/>
              </a:rPr>
              <a:t>0.7297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5BBB5-EC19-4E4C-A393-FA082348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0482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Oracle client provider version error randomly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05C7A5-16CF-41C4-8DC8-1E5EA80A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76825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7CD17C-759A-485D-9764-B0DFD08D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04825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Random provider not compatible with Oracle client error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81C646-17D0-4143-A083-6780F488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output/similar_pair_samples.csv 与 output/cluster_samples.csv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E12E03-698E-4CFC-9C2F-902BD402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75432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A4627B-05AA-4925-9E53-FE09AE16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89140-146B-404A-8A4B-F8B1DFE5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36C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36C2F"/>
                </a:solidFill>
                <a:latin typeface="Aptos"/>
                <a:ea typeface="Aptos"/>
                <a:cs typeface="Aptos"/>
              </a:rPr>
              <a:t>ENGINEERING TRADE-OFF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D4C5B-5EC0-44DA-9C96-7552AB78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approxSimilarityJoin 已接入，但全量运行暴露了资源长尾。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FE9553-4F1A-4594-AD8D-16962109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这是优化后的重要结论：代码正确性和现场可演示性要分别证明。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18FE5-A7B8-422D-94B4-8E14DF68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7C11A-1041-4B9A-9F74-69EB6F71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DF340F-90A1-40B4-A6C1-67E5794C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60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0035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DB855-B801-4002-AEB9-46E97543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YARN smoke 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1FBE1-CA70-4465-BF8B-C845D2D3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14 条受控样本，7 对相似边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72783A-D810-4A40-ACED-ECF70946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B4A28-62F9-4BB6-B7C7-FC40F8EC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490A5-096A-4FC8-9603-148678F7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860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0038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64D6C-2FDF-4D34-BC00-C46D8894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76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全量压力测试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5A6408-26DF-4E4F-B11B-801EE25E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242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application_1779864261706_0038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75369-006A-4C45-AB59-6B2369F2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A4B680-DF9C-4744-84D2-E9DC3186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15FE6-98D2-4930-B00B-83C22E5A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860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7/37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679F14-A036-4A42-9685-59483DBF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stage 9 长尾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923D4-308F-4F5F-93C9-BABD7B5A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242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约 29 分钟后主动停止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C595E0-7621-454A-9E90-35852EA3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A"/>
          </a:solidFill>
          <a:ln xmlns:a="http://schemas.openxmlformats.org/drawingml/2006/main" w="9525">
            <a:solidFill>
              <a:srgbClr val="3444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8C2805-3839-42D4-9E1C-FBDB5C4E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627AD7-5F73-4284-A8F1-28D07314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860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bucket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F350CC-1107-4414-AE40-1EE479AA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765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8E1E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8E1EA"/>
                </a:solidFill>
                <a:latin typeface="Aptos"/>
                <a:ea typeface="Aptos"/>
                <a:cs typeface="Aptos"/>
              </a:rPr>
              <a:t>最终展示路径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0DDE5-FAC6-4582-A446-99F0A599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242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8B5C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8B5C4"/>
                </a:solidFill>
                <a:latin typeface="Aptos"/>
                <a:ea typeface="Aptos"/>
                <a:cs typeface="Aptos"/>
              </a:rPr>
              <a:t>已完成全量 YARN 输出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6727AA-A026-4577-A580-1244274D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62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A3124-4027-447B-B1D9-3904969A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0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93FEC3-9EFE-42B2-81BF-F55E986F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10:59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1B5973-447D-4660-812F-5A7C20E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86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提交 full approx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9F62BD-9B4D-4E0A-BA90-31A28C6C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0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8C4860-22C7-4C8F-BEBC-C42272C2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386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11:07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9C723D-AC45-4D6C-B5C0-E7D27BDB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86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Stage 5 完成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8E0D88-1D7A-414E-A0B2-D9800B90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0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5071E9-995A-43FE-AD53-CA0EA72F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386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11:10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E5C285-3075-4B4E-A58B-C72C620F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86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Stage 6 完成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808994-BE5B-4DB6-9A2E-9ECEC5DF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0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32EBE41-7A3F-475F-92A1-7F1AF2D7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386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11:12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D9CF6C-087A-431A-A8FC-5E15FCAB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executor 心跳超时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43E780-0789-44E5-A877-B60F44A9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0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F3BC52-CF22-4D74-AB9F-7D54E1D1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11:24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83FC94-F1B8-495A-8543-8745FC3F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86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stage 9 仅 7/37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AA2116-077A-4DEB-80B3-FD7B0F25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0527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3C05DD-6FDE-448B-AE82-E0DE5AAD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386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11:28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94E4FD-B114-4985-B619-DE8808DD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863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8C4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4D2"/>
                </a:solidFill>
                <a:latin typeface="Aptos"/>
                <a:ea typeface="Aptos"/>
                <a:cs typeface="Aptos"/>
              </a:rPr>
              <a:t>主动停止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898C90-50B5-467E-ACD2-86A9330E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docs/verification/full_approx075_2026-06-14.md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91FE9C-835B-49DD-B9E7-FBBDD5C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3939105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9B0F0-955F-4333-8ADA-CA6E8807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2E1BB-1064-4DA2-9EB6-AF69D33E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C8125-E0F2-41E3-83D0-6CEB1AAA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现场 Demo 使用离线导出的真实结果，稳定性优先。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3C3FB9-8B86-4261-8C46-D9C4BA7F1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不在台上临时跑 Spark 作业，避免网络、YARN 排队和长尾任务影响展示。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A2B11-1B3B-46A0-B552-81003E0D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13036-12E7-4DDC-8C05-E398984D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648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静态页面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cd project-stackoverflow-clustering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python3 -m http.server 8765 --bind 127.0.0.1 --directory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浏览器打开: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http://127.0.0.1:8765/index.html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5D632-1A4A-4302-BED0-5E2DE0AD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49530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B5601-0BEC-4A7B-AD2D-BC01964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46482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命令行备选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bash scripts/07_query_demo.sh --top-clusters --limit 10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bash scripts/07_query_demo.sh --keyword "analytic function" --limit 10</a:t>
            </a:r>
          </a:p>
          <a:p xmlns:a="http://schemas.openxmlformats.org/drawingml/2006/main">
            <a:pPr algn="l">
              <a:def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>
                <a:solidFill>
                  <a:srgbClr val="18202A"/>
                </a:solidFill>
                <a:latin typeface="Courier New"/>
                <a:ea typeface="Courier New"/>
                <a:cs typeface="Courier New"/>
              </a:rPr>
              <a:t>bash scripts/07_query_demo.sh --question-id 28753859 --limit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BEDF3-BC00-4341-B70F-9BF8EFC0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35AEEC-E629-48B7-9018-5BE2596C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先展示数据核验和 EDA 卡片，证明数据真实。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BD7CC3-8B0D-4FD8-A9A1-D8CE5CC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166C1-73A7-4957-9F90-42752B4D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再展示参数汇总和推荐配置，解释为什么选择 0.65 高召回结果。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AAE50-E115-4659-B9BF-E4AA0E6B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E0AAC-1802-46BE-A21F-AD659B77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959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最后搜索 analytic function / question_id=28753859，展示相似问题对和重复簇。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FDBFE3-D982-4FA8-9E1C-35EF4AD0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demo/README.md 与 README.md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49523A-9604-4030-B973-18BA4637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434982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424CDD-967D-494B-A16B-9B0FB109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F69E6-4AF7-40B3-B613-3D9CE958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EVALUATION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6D7B9-386B-4BC3-BC84-8AF097E1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没有人工标签，就不伪造 precision、recall 或 F1。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A3375-03C6-46E9-8666-671FFF3E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这是项目的诚实边界，也是答辩时最容易被问到的问题。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7881D-6A60-4284-ADAD-FFE64750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2A6A7-B385-4DBA-8295-017E8542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86EFB-6E86-417D-813D-57E89865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479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82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458A0-5539-437D-8AEF-51F0636F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review candidates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7EA877-27F0-40FC-811F-FE8D86AB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86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已生成待人工审核样本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44A17-C3D8-4801-90F3-A1FF00FC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CFA96-0C32-402D-B521-9FC156C6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86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79384-E0D4-4B9F-A4A5-A7659BE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479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A4CAD5-F671-4AA4-98CE-18CEF128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labeled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EA3AA-1BFF-484E-BD21-95E4AED3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6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当前尚未填写 label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C8E514-516E-4153-B316-D4514C77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B182E0-8E84-4453-8020-1768CD0CB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286000"/>
            <a:ext cx="57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22562-87FD-4818-9DC9-77056452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47925"/>
            <a:ext cx="2076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null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9AB35-70C3-4F63-BF31-CA9ADD79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384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precision / F1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1EB82-0F1D-45C9-BE4A-3AA6DA13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只在人工标注后计算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3FFA3-CFBE-43A8-848B-B91580EE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52650"/>
            <a:ext cx="17716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BF6"/>
          </a:solidFill>
          <a:ln xmlns:a="http://schemas.openxmlformats.org/drawingml/2006/main" w="9525">
            <a:solidFill>
              <a:srgbClr val="D8D3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483BF-E53B-46A4-BB87-D7B34030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622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A"/>
                </a:solidFill>
                <a:latin typeface="Aptos"/>
                <a:ea typeface="Aptos"/>
                <a:cs typeface="Aptos"/>
              </a:rPr>
              <a:t>label 规则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C2A79F-F91C-4B6C-990F-40C854D0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24150"/>
            <a:ext cx="114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1 = 本质重复</a:t>
            </a:r>
          </a:p>
          <a:p xmlns:a="http://schemas.openxmlformats.org/drawingml/2006/main">
            <a:pPr algn="l">
              <a:defRPr sz="12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0 = 非重复</a:t>
            </a:r>
          </a:p>
          <a:p xmlns:a="http://schemas.openxmlformats.org/drawingml/2006/main">
            <a:pPr algn="l">
              <a:defRPr sz="120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空 = 待审核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C00A40-631D-4ACA-A030-CC026512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F80A7-0139-4A30-9909-80D26917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答辩时可以说：当前参数是“可复核、可解释、适合展示”的选择，不声称全局最优。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D01E44-5BAD-434D-86B2-4B587309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3E5AD1-4469-458E-BD5D-4EA2AD1B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965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2A"/>
                </a:solidFill>
                <a:latin typeface="Aptos"/>
                <a:ea typeface="Aptos"/>
                <a:cs typeface="Aptos"/>
              </a:rPr>
              <a:t>若继续优化，应标注 50-100 对候选，再用 precision 与候选覆盖量选择最终阈值。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CAB67-A332-446A-A660-D48C06EA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source: evaluation/review_candidates.csv 与 output/evaluation/review_metrics.json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260DC-A9AD-4C8C-A67A-3493117F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249433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6E699-FC58-426F-8F87-5C1599DD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0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A3C33-C215-4E24-9B5A-628341FF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8F6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8F63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D1609-1858-40CF-9C51-756CBBDF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9906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最终交付是一套可复现、可解释、可演示的大数据文本分析项目。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CCEA98-C7A5-4B01-9F3E-F836ADDE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已经完成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26016-2524-40C8-9FF9-C8911463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81BCD-4B5D-4DD4-B6FF-33C8DA14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真实数据核验：SHA256、规模统计、EDA。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365F81-8321-482C-9AA1-32A6D0A25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9B954D-0F90-4D28-A943-6C4F334A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真实集群链路：HDFS、YARN、Spark on YARN。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E1AB6-DB24-432E-B245-67766580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09F8F-37E3-430E-BE5D-8CDFE300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算法链路：TF-IDF 主题聚类 + MinHashLSH 去重。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4D082-965F-4E4E-8FF3-9E3B1E2C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44DA0-2888-4B75-B267-2B0897E0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57650"/>
            <a:ext cx="447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答辩材料：PPT、讲稿、Demo 页面、验证日志。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693C0-906D-4BFD-8EEB-837C9B5A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955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后续改进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A67A4-EE20-42D9-949F-E448B04B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0AE57-C7DD-4FCB-867A-74C53F9C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289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补 50-100 条人工标签，计算真实 precision。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4F9BC-DD5B-4380-A679-F193E783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01989-A4B5-4853-A530-412C686A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051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在集群空闲时继续完整参数网格。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19F5A2-5A4B-4A13-8D7C-547A004C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03D3BE-BE1C-4B03-AF41-805CE827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8140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尝试 Sentence-BERT / 技术领域 embedding。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3B5492-503B-4338-906F-C78C8BD6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E3B98-4D13-433C-93F0-E3AC0496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57650"/>
            <a:ext cx="400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把静态 Demo 升级成 Streamlit 检索页面。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416004-F77F-4347-B3D8-60574490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673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5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F51C5-2BE6-47C5-BAB4-C54FA6AC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核心答辩句：我们没有伪造指标，而是把真实数据、真实集群、真实运行结果和工程取舍完整呈现。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68F07-94B0-452B-A3D5-F6037A72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A6370"/>
                </a:solidFill>
                <a:latin typeface="Aptos"/>
                <a:ea typeface="Aptos"/>
                <a:cs typeface="Aptos"/>
              </a:rPr>
              <a:t>deliverables: source code / project docs / PPT / demo instructions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EF630-57F1-4044-B2D0-CB41C58E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A637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37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58387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2026-06-14T14:40:10.5270000Z</dcterms:created>
  <dcterms:modified xsi:type="dcterms:W3CDTF">2026-06-14T14:40:10.5270000Z</dcterms:modified>
</coreProperties>
</file>